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1430000" cy="7708900"/>
  <p:notesSz cx="11430000" cy="77089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6059"/>
            <a:ext cx="9715500" cy="13521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5784"/>
            <a:ext cx="8001000" cy="1609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" y="-379"/>
            <a:ext cx="11430000" cy="6438265"/>
          </a:xfrm>
          <a:custGeom>
            <a:avLst/>
            <a:gdLst/>
            <a:ahLst/>
            <a:cxnLst/>
            <a:rect l="l" t="t" r="r" b="b"/>
            <a:pathLst>
              <a:path w="11430000" h="6438265">
                <a:moveTo>
                  <a:pt x="11429425" y="0"/>
                </a:moveTo>
                <a:lnTo>
                  <a:pt x="0" y="0"/>
                </a:lnTo>
                <a:lnTo>
                  <a:pt x="0" y="6437832"/>
                </a:lnTo>
                <a:lnTo>
                  <a:pt x="11429425" y="6437832"/>
                </a:lnTo>
                <a:lnTo>
                  <a:pt x="11429425" y="0"/>
                </a:lnTo>
                <a:close/>
              </a:path>
            </a:pathLst>
          </a:custGeom>
          <a:solidFill>
            <a:srgbClr val="0C0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0947"/>
            <a:ext cx="4972050" cy="42496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0947"/>
            <a:ext cx="4972050" cy="42496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" y="-379"/>
            <a:ext cx="57150" cy="6438265"/>
          </a:xfrm>
          <a:custGeom>
            <a:avLst/>
            <a:gdLst/>
            <a:ahLst/>
            <a:cxnLst/>
            <a:rect l="l" t="t" r="r" b="b"/>
            <a:pathLst>
              <a:path w="57150" h="6438265">
                <a:moveTo>
                  <a:pt x="0" y="6437832"/>
                </a:moveTo>
                <a:lnTo>
                  <a:pt x="57131" y="6437832"/>
                </a:lnTo>
                <a:lnTo>
                  <a:pt x="57131" y="0"/>
                </a:lnTo>
                <a:lnTo>
                  <a:pt x="0" y="0"/>
                </a:lnTo>
                <a:lnTo>
                  <a:pt x="0" y="6437832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57147" y="0"/>
            <a:ext cx="11372850" cy="6437630"/>
          </a:xfrm>
          <a:custGeom>
            <a:avLst/>
            <a:gdLst/>
            <a:ahLst/>
            <a:cxnLst/>
            <a:rect l="l" t="t" r="r" b="b"/>
            <a:pathLst>
              <a:path w="11372850" h="6437630">
                <a:moveTo>
                  <a:pt x="0" y="6437453"/>
                </a:moveTo>
                <a:lnTo>
                  <a:pt x="11372852" y="6437453"/>
                </a:lnTo>
                <a:lnTo>
                  <a:pt x="11372852" y="0"/>
                </a:lnTo>
                <a:lnTo>
                  <a:pt x="15" y="0"/>
                </a:lnTo>
                <a:lnTo>
                  <a:pt x="0" y="6437453"/>
                </a:lnTo>
                <a:close/>
              </a:path>
            </a:pathLst>
          </a:custGeom>
          <a:solidFill>
            <a:srgbClr val="150D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7096" y="464804"/>
            <a:ext cx="9011082" cy="720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0947"/>
            <a:ext cx="10287000" cy="42496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88177"/>
            <a:ext cx="3657600" cy="321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88177"/>
            <a:ext cx="2628900" cy="321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88177"/>
            <a:ext cx="2628900" cy="321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1"/>
            <a:ext cx="11430635" cy="6438900"/>
          </a:xfrm>
          <a:custGeom>
            <a:avLst/>
            <a:gdLst/>
            <a:ahLst/>
            <a:cxnLst/>
            <a:rect l="l" t="t" r="r" b="b"/>
            <a:pathLst>
              <a:path w="11430635" h="6438900">
                <a:moveTo>
                  <a:pt x="11430392" y="6438595"/>
                </a:moveTo>
                <a:lnTo>
                  <a:pt x="0" y="6438595"/>
                </a:lnTo>
                <a:lnTo>
                  <a:pt x="0" y="0"/>
                </a:lnTo>
                <a:lnTo>
                  <a:pt x="11430392" y="0"/>
                </a:lnTo>
                <a:lnTo>
                  <a:pt x="11430392" y="6438595"/>
                </a:lnTo>
                <a:close/>
              </a:path>
            </a:pathLst>
          </a:custGeom>
          <a:solidFill>
            <a:srgbClr val="0C09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6047" cy="64388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910892" y="1936641"/>
            <a:ext cx="4525010" cy="1063625"/>
          </a:xfrm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20"/>
              </a:spcBef>
            </a:pPr>
            <a:r>
              <a:rPr dirty="0" spc="270"/>
              <a:t>Pomegranate</a:t>
            </a:r>
            <a:r>
              <a:rPr dirty="0" spc="80"/>
              <a:t> </a:t>
            </a:r>
            <a:r>
              <a:rPr dirty="0" spc="200"/>
              <a:t>Fruit </a:t>
            </a:r>
            <a:r>
              <a:rPr dirty="0" spc="165"/>
              <a:t>Disease</a:t>
            </a:r>
            <a:r>
              <a:rPr dirty="0" spc="90"/>
              <a:t> </a:t>
            </a:r>
            <a:r>
              <a:rPr dirty="0" spc="235"/>
              <a:t>Detection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910892" y="3257982"/>
            <a:ext cx="5852795" cy="201295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CNN-based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software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prototype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for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intelligent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fruit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disease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cassification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1400" spc="600">
                <a:solidFill>
                  <a:srgbClr val="D9E1FF"/>
                </a:solidFill>
                <a:latin typeface="Microsoft Sans Serif"/>
                <a:cs typeface="Microsoft Sans Serif"/>
              </a:rPr>
              <a:t>—</a:t>
            </a:r>
            <a:r>
              <a:rPr dirty="0" sz="1400" spc="6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designed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for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real-world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deployment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on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embedded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hardware.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400">
              <a:latin typeface="Microsoft Sans Serif"/>
              <a:cs typeface="Microsoft Sans Serif"/>
            </a:endParaRPr>
          </a:p>
          <a:p>
            <a:pPr marL="1036955">
              <a:lnSpc>
                <a:spcPct val="100000"/>
              </a:lnSpc>
            </a:pP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Pranav</a:t>
            </a:r>
            <a:r>
              <a:rPr dirty="0" sz="150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Memane</a:t>
            </a:r>
            <a:r>
              <a:rPr dirty="0" sz="1500" spc="4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Lucida Sans Unicode"/>
                <a:cs typeface="Lucida Sans Unicode"/>
              </a:rPr>
              <a:t>ADT24SOCB0786</a:t>
            </a:r>
            <a:endParaRPr sz="1500">
              <a:latin typeface="Lucida Sans Unicode"/>
              <a:cs typeface="Lucida Sans Unicode"/>
            </a:endParaRPr>
          </a:p>
          <a:p>
            <a:pPr marL="1158875" marR="1433195" indent="-344170">
              <a:lnSpc>
                <a:spcPct val="116700"/>
              </a:lnSpc>
            </a:pP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Harshwardhan</a:t>
            </a:r>
            <a:r>
              <a:rPr dirty="0" sz="15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Wable</a:t>
            </a:r>
            <a:r>
              <a:rPr dirty="0" sz="15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Lucida Sans Unicode"/>
                <a:cs typeface="Lucida Sans Unicode"/>
              </a:rPr>
              <a:t>ADT24SOCB0455 Karan</a:t>
            </a:r>
            <a:r>
              <a:rPr dirty="0" sz="15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Nevase</a:t>
            </a:r>
            <a:r>
              <a:rPr dirty="0" sz="15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Lucida Sans Unicode"/>
                <a:cs typeface="Lucida Sans Unicode"/>
              </a:rPr>
              <a:t>ADT24SOCB0530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Sahil</a:t>
            </a:r>
            <a:r>
              <a:rPr dirty="0" sz="15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Lucida Sans Unicode"/>
                <a:cs typeface="Lucida Sans Unicode"/>
              </a:rPr>
              <a:t>Shaikh</a:t>
            </a:r>
            <a:r>
              <a:rPr dirty="0" sz="15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Lucida Sans Unicode"/>
                <a:cs typeface="Lucida Sans Unicode"/>
              </a:rPr>
              <a:t>ADT24SOCB0965</a:t>
            </a:r>
            <a:endParaRPr sz="1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90"/>
            <a:ext cx="11424285" cy="7702550"/>
          </a:xfrm>
          <a:custGeom>
            <a:avLst/>
            <a:gdLst/>
            <a:ahLst/>
            <a:cxnLst/>
            <a:rect l="l" t="t" r="r" b="b"/>
            <a:pathLst>
              <a:path w="11424285" h="7702550">
                <a:moveTo>
                  <a:pt x="11424123" y="7702144"/>
                </a:moveTo>
                <a:lnTo>
                  <a:pt x="0" y="7702144"/>
                </a:lnTo>
                <a:lnTo>
                  <a:pt x="0" y="0"/>
                </a:lnTo>
                <a:lnTo>
                  <a:pt x="11424123" y="0"/>
                </a:lnTo>
                <a:lnTo>
                  <a:pt x="11424123" y="7702144"/>
                </a:lnTo>
                <a:close/>
              </a:path>
            </a:pathLst>
          </a:custGeom>
          <a:solidFill>
            <a:srgbClr val="0C09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688" y="2427746"/>
            <a:ext cx="6445809" cy="365590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529822" y="3893153"/>
            <a:ext cx="3267710" cy="3105150"/>
            <a:chOff x="7529822" y="3893153"/>
            <a:chExt cx="3267710" cy="3105150"/>
          </a:xfrm>
        </p:grpSpPr>
        <p:sp>
          <p:nvSpPr>
            <p:cNvPr id="5" name="object 5"/>
            <p:cNvSpPr/>
            <p:nvPr/>
          </p:nvSpPr>
          <p:spPr>
            <a:xfrm>
              <a:off x="7529822" y="3893153"/>
              <a:ext cx="3267710" cy="3105150"/>
            </a:xfrm>
            <a:custGeom>
              <a:avLst/>
              <a:gdLst/>
              <a:ahLst/>
              <a:cxnLst/>
              <a:rect l="l" t="t" r="r" b="b"/>
              <a:pathLst>
                <a:path w="3267709" h="3105150">
                  <a:moveTo>
                    <a:pt x="3248839" y="3104947"/>
                  </a:moveTo>
                  <a:lnTo>
                    <a:pt x="18324" y="3104947"/>
                  </a:lnTo>
                  <a:lnTo>
                    <a:pt x="16854" y="3104655"/>
                  </a:lnTo>
                  <a:lnTo>
                    <a:pt x="0" y="3085481"/>
                  </a:lnTo>
                  <a:lnTo>
                    <a:pt x="0" y="19749"/>
                  </a:lnTo>
                  <a:lnTo>
                    <a:pt x="3247414" y="0"/>
                  </a:lnTo>
                  <a:lnTo>
                    <a:pt x="3250310" y="583"/>
                  </a:lnTo>
                  <a:lnTo>
                    <a:pt x="3267163" y="19749"/>
                  </a:lnTo>
                  <a:lnTo>
                    <a:pt x="3267163" y="3085481"/>
                  </a:lnTo>
                  <a:lnTo>
                    <a:pt x="3248839" y="3104947"/>
                  </a:lnTo>
                  <a:close/>
                </a:path>
              </a:pathLst>
            </a:custGeom>
            <a:solidFill>
              <a:srgbClr val="01234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4074" y="4160141"/>
              <a:ext cx="180187" cy="180187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00025">
              <a:lnSpc>
                <a:spcPct val="100000"/>
              </a:lnSpc>
              <a:spcBef>
                <a:spcPts val="120"/>
              </a:spcBef>
            </a:pPr>
            <a:r>
              <a:rPr dirty="0" spc="280"/>
              <a:t>Why</a:t>
            </a:r>
            <a:r>
              <a:rPr dirty="0" spc="70"/>
              <a:t> </a:t>
            </a:r>
            <a:r>
              <a:rPr dirty="0"/>
              <a:t>a</a:t>
            </a:r>
            <a:r>
              <a:rPr dirty="0" spc="70"/>
              <a:t> </a:t>
            </a:r>
            <a:r>
              <a:rPr dirty="0" spc="165"/>
              <a:t>Software-</a:t>
            </a:r>
            <a:r>
              <a:rPr dirty="0" spc="220"/>
              <a:t>Based</a:t>
            </a:r>
            <a:r>
              <a:rPr dirty="0" spc="75"/>
              <a:t> </a:t>
            </a:r>
            <a:r>
              <a:rPr dirty="0" spc="229"/>
              <a:t>Prototype?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520302" y="1463731"/>
            <a:ext cx="3180715" cy="5198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14">
                <a:solidFill>
                  <a:srgbClr val="FFFFFF"/>
                </a:solidFill>
                <a:latin typeface="Verdana"/>
                <a:cs typeface="Verdana"/>
              </a:rPr>
              <a:t>StrategicDesign</a:t>
            </a:r>
            <a:r>
              <a:rPr dirty="0" sz="1650" spc="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50" spc="110">
                <a:solidFill>
                  <a:srgbClr val="FFFFFF"/>
                </a:solidFill>
                <a:latin typeface="Verdana"/>
                <a:cs typeface="Verdana"/>
              </a:rPr>
              <a:t>Decision</a:t>
            </a:r>
            <a:endParaRPr sz="1650">
              <a:latin typeface="Verdana"/>
              <a:cs typeface="Verdana"/>
            </a:endParaRPr>
          </a:p>
          <a:p>
            <a:pPr marL="12700" marR="106680">
              <a:lnSpc>
                <a:spcPct val="133900"/>
              </a:lnSpc>
              <a:spcBef>
                <a:spcPts val="1390"/>
              </a:spcBef>
            </a:pP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Due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to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hardware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procurement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constraints,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we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implemented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0">
                <a:solidFill>
                  <a:srgbClr val="D9E1FF"/>
                </a:solidFill>
                <a:latin typeface="Microsoft Sans Serif"/>
                <a:cs typeface="Microsoft Sans Serif"/>
              </a:rPr>
              <a:t>fully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functional</a:t>
            </a:r>
            <a:r>
              <a:rPr dirty="0" sz="1400" spc="13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b="1">
                <a:solidFill>
                  <a:srgbClr val="D9E1FF"/>
                </a:solidFill>
                <a:latin typeface="Arial"/>
                <a:cs typeface="Arial"/>
              </a:rPr>
              <a:t>software-based</a:t>
            </a:r>
            <a:r>
              <a:rPr dirty="0" sz="1400" spc="114" b="1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D9E1FF"/>
                </a:solidFill>
                <a:latin typeface="Arial"/>
                <a:cs typeface="Arial"/>
              </a:rPr>
              <a:t>prototype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33900"/>
              </a:lnSpc>
              <a:spcBef>
                <a:spcPts val="150"/>
              </a:spcBef>
            </a:pPr>
            <a:r>
              <a:rPr dirty="0" sz="1400" spc="600">
                <a:solidFill>
                  <a:srgbClr val="D9E1FF"/>
                </a:solidFill>
                <a:latin typeface="Microsoft Sans Serif"/>
                <a:cs typeface="Microsoft Sans Serif"/>
              </a:rPr>
              <a:t>—</a:t>
            </a:r>
            <a:r>
              <a:rPr dirty="0" sz="1400" spc="6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</a:t>
            </a:r>
            <a:r>
              <a:rPr dirty="0" sz="1400" spc="6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recognized</a:t>
            </a:r>
            <a:r>
              <a:rPr dirty="0" sz="1400" spc="6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and</a:t>
            </a:r>
            <a:r>
              <a:rPr dirty="0" sz="1400" spc="6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academically</a:t>
            </a:r>
            <a:r>
              <a:rPr dirty="0" sz="1400" spc="6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0">
                <a:solidFill>
                  <a:srgbClr val="D9E1FF"/>
                </a:solidFill>
                <a:latin typeface="Microsoft Sans Serif"/>
                <a:cs typeface="Microsoft Sans Serif"/>
              </a:rPr>
              <a:t>valid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methodology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in</a:t>
            </a:r>
            <a:r>
              <a:rPr dirty="0" sz="1400" spc="9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embedded</a:t>
            </a:r>
            <a:r>
              <a:rPr dirty="0" sz="1400" spc="9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systems research.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400">
              <a:latin typeface="Microsoft Sans Serif"/>
              <a:cs typeface="Microsoft Sans Serif"/>
            </a:endParaRPr>
          </a:p>
          <a:p>
            <a:pPr marL="603885" marR="100965">
              <a:lnSpc>
                <a:spcPct val="133300"/>
              </a:lnSpc>
            </a:pP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"The</a:t>
            </a:r>
            <a:r>
              <a:rPr dirty="0" sz="1400" spc="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system</a:t>
            </a:r>
            <a:r>
              <a:rPr dirty="0" sz="1400" spc="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is</a:t>
            </a:r>
            <a:r>
              <a:rPr dirty="0" sz="1400" spc="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architected</a:t>
            </a:r>
            <a:r>
              <a:rPr dirty="0" sz="1400" spc="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Microsoft Sans Serif"/>
                <a:cs typeface="Microsoft Sans Serif"/>
              </a:rPr>
              <a:t>to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run</a:t>
            </a:r>
            <a:r>
              <a:rPr dirty="0" sz="140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on</a:t>
            </a:r>
            <a:r>
              <a:rPr dirty="0" sz="140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Raspberry</a:t>
            </a:r>
            <a:r>
              <a:rPr dirty="0" sz="140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Pi</a:t>
            </a:r>
            <a:r>
              <a:rPr dirty="0" sz="1400" spc="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with</a:t>
            </a:r>
            <a:r>
              <a:rPr dirty="0" sz="140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dirty="0" sz="140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Microsoft Sans Serif"/>
                <a:cs typeface="Microsoft Sans Serif"/>
              </a:rPr>
              <a:t>live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camera.</a:t>
            </a:r>
            <a:r>
              <a:rPr dirty="0" sz="1400" spc="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Currently,</a:t>
            </a:r>
            <a:r>
              <a:rPr dirty="0" sz="1400" spc="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Microsoft Sans Serif"/>
                <a:cs typeface="Microsoft Sans Serif"/>
              </a:rPr>
              <a:t>we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demonstrate</a:t>
            </a:r>
            <a:r>
              <a:rPr dirty="0" sz="1400" spc="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dirty="0" sz="1400" spc="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Microsoft Sans Serif"/>
                <a:cs typeface="Microsoft Sans Serif"/>
              </a:rPr>
              <a:t>core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intelligence</a:t>
            </a:r>
            <a:r>
              <a:rPr dirty="0" sz="1400" spc="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layer</a:t>
            </a:r>
            <a:r>
              <a:rPr dirty="0" sz="1400" spc="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using</a:t>
            </a:r>
            <a:r>
              <a:rPr dirty="0" sz="140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Microsoft Sans Serif"/>
                <a:cs typeface="Microsoft Sans Serif"/>
              </a:rPr>
              <a:t>a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software</a:t>
            </a:r>
            <a:r>
              <a:rPr dirty="0" sz="1400" spc="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prototype</a:t>
            </a:r>
            <a:r>
              <a:rPr dirty="0" sz="1400" spc="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600">
                <a:solidFill>
                  <a:srgbClr val="FFFFFF"/>
                </a:solidFill>
                <a:latin typeface="Microsoft Sans Serif"/>
                <a:cs typeface="Microsoft Sans Serif"/>
              </a:rPr>
              <a:t>—</a:t>
            </a:r>
            <a:r>
              <a:rPr dirty="0" sz="1400" spc="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Microsoft Sans Serif"/>
                <a:cs typeface="Microsoft Sans Serif"/>
              </a:rPr>
              <a:t>the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hardware</a:t>
            </a:r>
            <a:r>
              <a:rPr dirty="0" sz="1400" spc="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integration</a:t>
            </a:r>
            <a:r>
              <a:rPr dirty="0" sz="1400" spc="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Microsoft Sans Serif"/>
                <a:cs typeface="Microsoft Sans Serif"/>
              </a:rPr>
              <a:t>is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modular</a:t>
            </a:r>
            <a:r>
              <a:rPr dirty="0" sz="1400" spc="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dirty="0" sz="1400" spc="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can</a:t>
            </a:r>
            <a:r>
              <a:rPr dirty="0" sz="1400" spc="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be</a:t>
            </a:r>
            <a:r>
              <a:rPr dirty="0" sz="1400" spc="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added</a:t>
            </a:r>
            <a:r>
              <a:rPr dirty="0" sz="1400" spc="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Microsoft Sans Serif"/>
                <a:cs typeface="Microsoft Sans Serif"/>
              </a:rPr>
              <a:t>at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any</a:t>
            </a:r>
            <a:r>
              <a:rPr dirty="0" sz="1400" spc="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Microsoft Sans Serif"/>
                <a:cs typeface="Microsoft Sans Serif"/>
              </a:rPr>
              <a:t>stage."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029450"/>
          </a:xfrm>
          <a:custGeom>
            <a:avLst/>
            <a:gdLst/>
            <a:ahLst/>
            <a:cxnLst/>
            <a:rect l="l" t="t" r="r" b="b"/>
            <a:pathLst>
              <a:path w="11430000" h="7029450">
                <a:moveTo>
                  <a:pt x="11429997" y="0"/>
                </a:moveTo>
                <a:lnTo>
                  <a:pt x="0" y="0"/>
                </a:lnTo>
                <a:lnTo>
                  <a:pt x="0" y="7029448"/>
                </a:lnTo>
                <a:lnTo>
                  <a:pt x="11429997" y="7029448"/>
                </a:lnTo>
                <a:lnTo>
                  <a:pt x="11429997" y="0"/>
                </a:lnTo>
                <a:close/>
              </a:path>
            </a:pathLst>
          </a:custGeom>
          <a:solidFill>
            <a:srgbClr val="0C0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0556" y="4598946"/>
            <a:ext cx="9686290" cy="951865"/>
          </a:xfrm>
          <a:custGeom>
            <a:avLst/>
            <a:gdLst/>
            <a:ahLst/>
            <a:cxnLst/>
            <a:rect l="l" t="t" r="r" b="b"/>
            <a:pathLst>
              <a:path w="9686290" h="951864">
                <a:moveTo>
                  <a:pt x="9201243" y="0"/>
                </a:moveTo>
                <a:lnTo>
                  <a:pt x="9201243" y="122048"/>
                </a:lnTo>
                <a:lnTo>
                  <a:pt x="0" y="122048"/>
                </a:lnTo>
                <a:lnTo>
                  <a:pt x="0" y="833998"/>
                </a:lnTo>
                <a:lnTo>
                  <a:pt x="9201243" y="833998"/>
                </a:lnTo>
                <a:lnTo>
                  <a:pt x="9201243" y="951276"/>
                </a:lnTo>
                <a:lnTo>
                  <a:pt x="9685852" y="475643"/>
                </a:lnTo>
                <a:lnTo>
                  <a:pt x="9201243" y="0"/>
                </a:lnTo>
                <a:close/>
              </a:path>
            </a:pathLst>
          </a:custGeom>
          <a:solidFill>
            <a:srgbClr val="9D8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69654" y="3596668"/>
            <a:ext cx="8769985" cy="951865"/>
          </a:xfrm>
          <a:custGeom>
            <a:avLst/>
            <a:gdLst/>
            <a:ahLst/>
            <a:cxnLst/>
            <a:rect l="l" t="t" r="r" b="b"/>
            <a:pathLst>
              <a:path w="8769985" h="951864">
                <a:moveTo>
                  <a:pt x="8285183" y="0"/>
                </a:moveTo>
                <a:lnTo>
                  <a:pt x="8285183" y="119027"/>
                </a:lnTo>
                <a:lnTo>
                  <a:pt x="0" y="119027"/>
                </a:lnTo>
                <a:lnTo>
                  <a:pt x="0" y="830977"/>
                </a:lnTo>
                <a:lnTo>
                  <a:pt x="8285183" y="830977"/>
                </a:lnTo>
                <a:lnTo>
                  <a:pt x="8285183" y="951276"/>
                </a:lnTo>
                <a:lnTo>
                  <a:pt x="8769679" y="475633"/>
                </a:lnTo>
                <a:lnTo>
                  <a:pt x="8285183" y="0"/>
                </a:lnTo>
                <a:close/>
              </a:path>
            </a:pathLst>
          </a:custGeom>
          <a:solidFill>
            <a:srgbClr val="785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70350" y="2596143"/>
            <a:ext cx="7952105" cy="951865"/>
          </a:xfrm>
          <a:custGeom>
            <a:avLst/>
            <a:gdLst/>
            <a:ahLst/>
            <a:cxnLst/>
            <a:rect l="l" t="t" r="r" b="b"/>
            <a:pathLst>
              <a:path w="7952105" h="951864">
                <a:moveTo>
                  <a:pt x="7467887" y="0"/>
                </a:moveTo>
                <a:lnTo>
                  <a:pt x="7467887" y="122048"/>
                </a:lnTo>
                <a:lnTo>
                  <a:pt x="0" y="122048"/>
                </a:lnTo>
                <a:lnTo>
                  <a:pt x="0" y="833998"/>
                </a:lnTo>
                <a:lnTo>
                  <a:pt x="7467887" y="833998"/>
                </a:lnTo>
                <a:lnTo>
                  <a:pt x="7467887" y="951276"/>
                </a:lnTo>
                <a:lnTo>
                  <a:pt x="7952064" y="475633"/>
                </a:lnTo>
                <a:lnTo>
                  <a:pt x="7467887" y="0"/>
                </a:lnTo>
                <a:close/>
              </a:path>
            </a:pathLst>
          </a:custGeom>
          <a:solidFill>
            <a:srgbClr val="532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69340" y="1593237"/>
            <a:ext cx="7131684" cy="951865"/>
          </a:xfrm>
          <a:custGeom>
            <a:avLst/>
            <a:gdLst/>
            <a:ahLst/>
            <a:cxnLst/>
            <a:rect l="l" t="t" r="r" b="b"/>
            <a:pathLst>
              <a:path w="7131684" h="951864">
                <a:moveTo>
                  <a:pt x="6647030" y="0"/>
                </a:moveTo>
                <a:lnTo>
                  <a:pt x="6647030" y="119668"/>
                </a:lnTo>
                <a:lnTo>
                  <a:pt x="0" y="119668"/>
                </a:lnTo>
                <a:lnTo>
                  <a:pt x="0" y="831618"/>
                </a:lnTo>
                <a:lnTo>
                  <a:pt x="6647030" y="831618"/>
                </a:lnTo>
                <a:lnTo>
                  <a:pt x="6647030" y="951276"/>
                </a:lnTo>
                <a:lnTo>
                  <a:pt x="7131290" y="475643"/>
                </a:lnTo>
                <a:lnTo>
                  <a:pt x="6647030" y="0"/>
                </a:lnTo>
                <a:close/>
              </a:path>
            </a:pathLst>
          </a:custGeom>
          <a:solidFill>
            <a:srgbClr val="3100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00025">
              <a:lnSpc>
                <a:spcPct val="100000"/>
              </a:lnSpc>
              <a:spcBef>
                <a:spcPts val="125"/>
              </a:spcBef>
            </a:pPr>
            <a:r>
              <a:rPr dirty="0" spc="140"/>
              <a:t>System</a:t>
            </a:r>
            <a:r>
              <a:rPr dirty="0" spc="65"/>
              <a:t> </a:t>
            </a:r>
            <a:r>
              <a:rPr dirty="0" spc="225"/>
              <a:t>Architecture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41316" y="2894873"/>
            <a:ext cx="135128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120">
                <a:solidFill>
                  <a:srgbClr val="FFFFFF"/>
                </a:solidFill>
                <a:latin typeface="Verdana"/>
                <a:cs typeface="Verdana"/>
              </a:rPr>
              <a:t>CNN</a:t>
            </a:r>
            <a:r>
              <a:rPr dirty="0" sz="1700" spc="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105">
                <a:solidFill>
                  <a:srgbClr val="FFFFFF"/>
                </a:solidFill>
                <a:latin typeface="Verdana"/>
                <a:cs typeface="Verdana"/>
              </a:rPr>
              <a:t>Model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41316" y="1889576"/>
            <a:ext cx="1602105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70">
                <a:solidFill>
                  <a:srgbClr val="FFFFFF"/>
                </a:solidFill>
                <a:latin typeface="Verdana"/>
                <a:cs typeface="Verdana"/>
              </a:rPr>
              <a:t>Input</a:t>
            </a:r>
            <a:r>
              <a:rPr dirty="0" sz="1700" spc="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55">
                <a:solidFill>
                  <a:srgbClr val="FFFFFF"/>
                </a:solidFill>
                <a:latin typeface="Verdana"/>
                <a:cs typeface="Verdana"/>
              </a:rPr>
              <a:t>Images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41316" y="4895294"/>
            <a:ext cx="158877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120">
                <a:solidFill>
                  <a:srgbClr val="FFFFFF"/>
                </a:solidFill>
                <a:latin typeface="Verdana"/>
                <a:cs typeface="Verdana"/>
              </a:rPr>
              <a:t>Output</a:t>
            </a:r>
            <a:r>
              <a:rPr dirty="0" sz="1700" spc="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80">
                <a:solidFill>
                  <a:srgbClr val="FFFFFF"/>
                </a:solidFill>
                <a:latin typeface="Verdana"/>
                <a:cs typeface="Verdana"/>
              </a:rPr>
              <a:t>Label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1316" y="3890007"/>
            <a:ext cx="2162810" cy="2838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700" spc="120">
                <a:solidFill>
                  <a:srgbClr val="FFFFFF"/>
                </a:solidFill>
                <a:latin typeface="Verdana"/>
                <a:cs typeface="Verdana"/>
              </a:rPr>
              <a:t>Prediction</a:t>
            </a:r>
            <a:r>
              <a:rPr dirty="0" sz="1700" spc="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700" spc="110">
                <a:solidFill>
                  <a:srgbClr val="FFFFFF"/>
                </a:solidFill>
                <a:latin typeface="Verdana"/>
                <a:cs typeface="Verdana"/>
              </a:rPr>
              <a:t>Engine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4884" y="5919301"/>
            <a:ext cx="10153015" cy="5778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9500"/>
              </a:lnSpc>
              <a:spcBef>
                <a:spcPts val="90"/>
              </a:spcBef>
            </a:pP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The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architecture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cleanly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separates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the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intelligence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layer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from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the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hardware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layer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600">
                <a:solidFill>
                  <a:srgbClr val="D9E1FF"/>
                </a:solidFill>
                <a:latin typeface="Microsoft Sans Serif"/>
                <a:cs typeface="Microsoft Sans Serif"/>
              </a:rPr>
              <a:t>—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making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the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CNN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model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portable,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testable,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and</a:t>
            </a:r>
            <a:r>
              <a:rPr dirty="0" sz="1400" spc="9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hardware-agnostic</a:t>
            </a:r>
            <a:r>
              <a:rPr dirty="0" sz="1400" spc="9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by</a:t>
            </a:r>
            <a:r>
              <a:rPr dirty="0" sz="1400" spc="9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design.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1"/>
            <a:ext cx="11430635" cy="6438900"/>
          </a:xfrm>
          <a:custGeom>
            <a:avLst/>
            <a:gdLst/>
            <a:ahLst/>
            <a:cxnLst/>
            <a:rect l="l" t="t" r="r" b="b"/>
            <a:pathLst>
              <a:path w="11430635" h="6438900">
                <a:moveTo>
                  <a:pt x="11430392" y="6438595"/>
                </a:moveTo>
                <a:lnTo>
                  <a:pt x="0" y="6438595"/>
                </a:lnTo>
                <a:lnTo>
                  <a:pt x="0" y="0"/>
                </a:lnTo>
                <a:lnTo>
                  <a:pt x="11430392" y="0"/>
                </a:lnTo>
                <a:lnTo>
                  <a:pt x="11430392" y="6438595"/>
                </a:lnTo>
                <a:close/>
              </a:path>
            </a:pathLst>
          </a:custGeom>
          <a:solidFill>
            <a:srgbClr val="0C09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6047" cy="64388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923811" y="3028616"/>
            <a:ext cx="2839085" cy="1591310"/>
          </a:xfrm>
          <a:custGeom>
            <a:avLst/>
            <a:gdLst/>
            <a:ahLst/>
            <a:cxnLst/>
            <a:rect l="l" t="t" r="r" b="b"/>
            <a:pathLst>
              <a:path w="2839084" h="1591310">
                <a:moveTo>
                  <a:pt x="2819242" y="1590980"/>
                </a:moveTo>
                <a:lnTo>
                  <a:pt x="19752" y="1590980"/>
                </a:lnTo>
                <a:lnTo>
                  <a:pt x="16855" y="1590397"/>
                </a:lnTo>
                <a:lnTo>
                  <a:pt x="0" y="1571227"/>
                </a:lnTo>
                <a:lnTo>
                  <a:pt x="0" y="19752"/>
                </a:lnTo>
                <a:lnTo>
                  <a:pt x="19752" y="0"/>
                </a:lnTo>
                <a:lnTo>
                  <a:pt x="2819242" y="0"/>
                </a:lnTo>
                <a:lnTo>
                  <a:pt x="2838995" y="19752"/>
                </a:lnTo>
                <a:lnTo>
                  <a:pt x="2838995" y="1571227"/>
                </a:lnTo>
                <a:lnTo>
                  <a:pt x="2819242" y="1590980"/>
                </a:lnTo>
                <a:close/>
              </a:path>
            </a:pathLst>
          </a:custGeom>
          <a:solidFill>
            <a:srgbClr val="2A29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952619" y="3028616"/>
            <a:ext cx="2839085" cy="1591310"/>
          </a:xfrm>
          <a:custGeom>
            <a:avLst/>
            <a:gdLst/>
            <a:ahLst/>
            <a:cxnLst/>
            <a:rect l="l" t="t" r="r" b="b"/>
            <a:pathLst>
              <a:path w="2839084" h="1591310">
                <a:moveTo>
                  <a:pt x="2819242" y="1590980"/>
                </a:moveTo>
                <a:lnTo>
                  <a:pt x="19752" y="1590980"/>
                </a:lnTo>
                <a:lnTo>
                  <a:pt x="16855" y="1590397"/>
                </a:lnTo>
                <a:lnTo>
                  <a:pt x="0" y="1571227"/>
                </a:lnTo>
                <a:lnTo>
                  <a:pt x="0" y="19752"/>
                </a:lnTo>
                <a:lnTo>
                  <a:pt x="19752" y="0"/>
                </a:lnTo>
                <a:lnTo>
                  <a:pt x="2819242" y="0"/>
                </a:lnTo>
                <a:lnTo>
                  <a:pt x="2838995" y="19752"/>
                </a:lnTo>
                <a:lnTo>
                  <a:pt x="2838995" y="1571227"/>
                </a:lnTo>
                <a:lnTo>
                  <a:pt x="2819242" y="1590980"/>
                </a:lnTo>
                <a:close/>
              </a:path>
            </a:pathLst>
          </a:custGeom>
          <a:solidFill>
            <a:srgbClr val="2A29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23811" y="4799420"/>
            <a:ext cx="5867400" cy="1038860"/>
          </a:xfrm>
          <a:custGeom>
            <a:avLst/>
            <a:gdLst/>
            <a:ahLst/>
            <a:cxnLst/>
            <a:rect l="l" t="t" r="r" b="b"/>
            <a:pathLst>
              <a:path w="5867400" h="1038860">
                <a:moveTo>
                  <a:pt x="5848132" y="1038311"/>
                </a:moveTo>
                <a:lnTo>
                  <a:pt x="19751" y="1038311"/>
                </a:lnTo>
                <a:lnTo>
                  <a:pt x="16854" y="1037730"/>
                </a:lnTo>
                <a:lnTo>
                  <a:pt x="0" y="1018556"/>
                </a:lnTo>
                <a:lnTo>
                  <a:pt x="0" y="19750"/>
                </a:lnTo>
                <a:lnTo>
                  <a:pt x="5848132" y="0"/>
                </a:lnTo>
                <a:lnTo>
                  <a:pt x="5851029" y="571"/>
                </a:lnTo>
                <a:lnTo>
                  <a:pt x="5867029" y="16189"/>
                </a:lnTo>
                <a:lnTo>
                  <a:pt x="5867029" y="1022115"/>
                </a:lnTo>
                <a:lnTo>
                  <a:pt x="5848132" y="1038311"/>
                </a:lnTo>
                <a:close/>
              </a:path>
            </a:pathLst>
          </a:custGeom>
          <a:solidFill>
            <a:srgbClr val="2A29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910892" y="541128"/>
            <a:ext cx="3604260" cy="11112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 spc="175"/>
              <a:t>Dataset-</a:t>
            </a:r>
            <a:r>
              <a:rPr dirty="0" spc="170"/>
              <a:t>Driven </a:t>
            </a:r>
            <a:r>
              <a:rPr dirty="0" spc="240"/>
              <a:t>Development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910892" y="1906570"/>
            <a:ext cx="5600065" cy="880744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33700"/>
              </a:lnSpc>
              <a:spcBef>
                <a:spcPts val="85"/>
              </a:spcBef>
            </a:pP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We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sourced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labeled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pomegranate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fruit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images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from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 b="1">
                <a:solidFill>
                  <a:srgbClr val="D9E1FF"/>
                </a:solidFill>
                <a:latin typeface="Arial"/>
                <a:cs typeface="Arial"/>
              </a:rPr>
              <a:t>Kaggle's </a:t>
            </a:r>
            <a:r>
              <a:rPr dirty="0" sz="1400" b="1">
                <a:solidFill>
                  <a:srgbClr val="D9E1FF"/>
                </a:solidFill>
                <a:latin typeface="Arial"/>
                <a:cs typeface="Arial"/>
              </a:rPr>
              <a:t>Pomegranate</a:t>
            </a:r>
            <a:r>
              <a:rPr dirty="0" sz="1400" spc="55" b="1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D9E1FF"/>
                </a:solidFill>
                <a:latin typeface="Arial"/>
                <a:cs typeface="Arial"/>
              </a:rPr>
              <a:t>Disease</a:t>
            </a:r>
            <a:r>
              <a:rPr dirty="0" sz="1400" spc="60" b="1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D9E1FF"/>
                </a:solidFill>
                <a:latin typeface="Arial"/>
                <a:cs typeface="Arial"/>
              </a:rPr>
              <a:t>Dataset</a:t>
            </a:r>
            <a:r>
              <a:rPr dirty="0" sz="1400" spc="55" b="1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dirty="0" sz="1400" spc="600">
                <a:solidFill>
                  <a:srgbClr val="D9E1FF"/>
                </a:solidFill>
                <a:latin typeface="Microsoft Sans Serif"/>
                <a:cs typeface="Microsoft Sans Serif"/>
              </a:rPr>
              <a:t>—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replacing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live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camera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input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with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0">
                <a:solidFill>
                  <a:srgbClr val="D9E1FF"/>
                </a:solidFill>
                <a:latin typeface="Microsoft Sans Serif"/>
                <a:cs typeface="Microsoft Sans Serif"/>
              </a:rPr>
              <a:t>a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curated,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high-quality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image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corpus.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93058" y="3178757"/>
            <a:ext cx="2383155" cy="9563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35">
                <a:solidFill>
                  <a:srgbClr val="D9E1FF"/>
                </a:solidFill>
                <a:latin typeface="Verdana"/>
                <a:cs typeface="Verdana"/>
              </a:rPr>
              <a:t>More</a:t>
            </a:r>
            <a:r>
              <a:rPr dirty="0" sz="1650" spc="50">
                <a:solidFill>
                  <a:srgbClr val="D9E1FF"/>
                </a:solidFill>
                <a:latin typeface="Verdana"/>
                <a:cs typeface="Verdana"/>
              </a:rPr>
              <a:t> </a:t>
            </a:r>
            <a:r>
              <a:rPr dirty="0" sz="1650" spc="110">
                <a:solidFill>
                  <a:srgbClr val="D9E1FF"/>
                </a:solidFill>
                <a:latin typeface="Verdana"/>
                <a:cs typeface="Verdana"/>
              </a:rPr>
              <a:t>Training</a:t>
            </a:r>
            <a:r>
              <a:rPr dirty="0" sz="1650" spc="50">
                <a:solidFill>
                  <a:srgbClr val="D9E1FF"/>
                </a:solidFill>
                <a:latin typeface="Verdana"/>
                <a:cs typeface="Verdana"/>
              </a:rPr>
              <a:t> </a:t>
            </a:r>
            <a:r>
              <a:rPr dirty="0" sz="1650" spc="85">
                <a:solidFill>
                  <a:srgbClr val="D9E1FF"/>
                </a:solidFill>
                <a:latin typeface="Verdana"/>
                <a:cs typeface="Verdana"/>
              </a:rPr>
              <a:t>Data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29500"/>
              </a:lnSpc>
              <a:spcBef>
                <a:spcPts val="955"/>
              </a:spcBef>
            </a:pP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Hundreds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of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labeled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samples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vs.</a:t>
            </a:r>
            <a:r>
              <a:rPr dirty="0" sz="1400" spc="4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</a:t>
            </a:r>
            <a:r>
              <a:rPr dirty="0" sz="1400" spc="4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handful</a:t>
            </a:r>
            <a:r>
              <a:rPr dirty="0" sz="1400" spc="5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of</a:t>
            </a:r>
            <a:r>
              <a:rPr dirty="0" sz="1400" spc="4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live</a:t>
            </a:r>
            <a:r>
              <a:rPr dirty="0" sz="1400" spc="4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captures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93058" y="4950332"/>
            <a:ext cx="4871720" cy="676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35">
                <a:solidFill>
                  <a:srgbClr val="D9E1FF"/>
                </a:solidFill>
                <a:latin typeface="Verdana"/>
                <a:cs typeface="Verdana"/>
              </a:rPr>
              <a:t>Reproducible</a:t>
            </a:r>
            <a:r>
              <a:rPr dirty="0" sz="1650" spc="80">
                <a:solidFill>
                  <a:srgbClr val="D9E1FF"/>
                </a:solidFill>
                <a:latin typeface="Verdana"/>
                <a:cs typeface="Verdana"/>
              </a:rPr>
              <a:t> </a:t>
            </a:r>
            <a:r>
              <a:rPr dirty="0" sz="1650" spc="90">
                <a:solidFill>
                  <a:srgbClr val="D9E1FF"/>
                </a:solidFill>
                <a:latin typeface="Verdana"/>
                <a:cs typeface="Verdana"/>
              </a:rPr>
              <a:t>Results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Consistent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benchmark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for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model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evaluation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and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comparison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18292" y="3176423"/>
            <a:ext cx="2312035" cy="1225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75310">
              <a:lnSpc>
                <a:spcPct val="102299"/>
              </a:lnSpc>
              <a:spcBef>
                <a:spcPts val="90"/>
              </a:spcBef>
            </a:pPr>
            <a:r>
              <a:rPr dirty="0" sz="1650" spc="105">
                <a:solidFill>
                  <a:srgbClr val="D9E1FF"/>
                </a:solidFill>
                <a:latin typeface="Verdana"/>
                <a:cs typeface="Verdana"/>
              </a:rPr>
              <a:t>Better </a:t>
            </a:r>
            <a:r>
              <a:rPr dirty="0" sz="1650" spc="95">
                <a:solidFill>
                  <a:srgbClr val="D9E1FF"/>
                </a:solidFill>
                <a:latin typeface="Verdana"/>
                <a:cs typeface="Verdana"/>
              </a:rPr>
              <a:t>Generalization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29500"/>
              </a:lnSpc>
              <a:spcBef>
                <a:spcPts val="1045"/>
              </a:spcBef>
            </a:pP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Diverse</a:t>
            </a:r>
            <a:r>
              <a:rPr dirty="0" sz="1400" spc="6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lighting,</a:t>
            </a:r>
            <a:r>
              <a:rPr dirty="0" sz="1400" spc="6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angles,</a:t>
            </a:r>
            <a:r>
              <a:rPr dirty="0" sz="1400" spc="6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5">
                <a:solidFill>
                  <a:srgbClr val="D9E1FF"/>
                </a:solidFill>
                <a:latin typeface="Microsoft Sans Serif"/>
                <a:cs typeface="Microsoft Sans Serif"/>
              </a:rPr>
              <a:t>and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disease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stages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included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918" y="2947230"/>
            <a:ext cx="4971415" cy="17780"/>
          </a:xfrm>
          <a:custGeom>
            <a:avLst/>
            <a:gdLst/>
            <a:ahLst/>
            <a:cxnLst/>
            <a:rect l="l" t="t" r="r" b="b"/>
            <a:pathLst>
              <a:path w="4971415" h="17780">
                <a:moveTo>
                  <a:pt x="4970907" y="0"/>
                </a:moveTo>
                <a:lnTo>
                  <a:pt x="0" y="0"/>
                </a:lnTo>
                <a:lnTo>
                  <a:pt x="0" y="17638"/>
                </a:lnTo>
                <a:lnTo>
                  <a:pt x="4970907" y="17638"/>
                </a:lnTo>
                <a:lnTo>
                  <a:pt x="4970907" y="0"/>
                </a:lnTo>
                <a:close/>
              </a:path>
            </a:pathLst>
          </a:custGeom>
          <a:solidFill>
            <a:srgbClr val="806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900559" y="2936943"/>
            <a:ext cx="4971415" cy="17780"/>
          </a:xfrm>
          <a:custGeom>
            <a:avLst/>
            <a:gdLst/>
            <a:ahLst/>
            <a:cxnLst/>
            <a:rect l="l" t="t" r="r" b="b"/>
            <a:pathLst>
              <a:path w="4971415" h="17780">
                <a:moveTo>
                  <a:pt x="4970907" y="0"/>
                </a:moveTo>
                <a:lnTo>
                  <a:pt x="0" y="0"/>
                </a:lnTo>
                <a:lnTo>
                  <a:pt x="0" y="17638"/>
                </a:lnTo>
                <a:lnTo>
                  <a:pt x="4970907" y="17638"/>
                </a:lnTo>
                <a:lnTo>
                  <a:pt x="4970907" y="0"/>
                </a:lnTo>
                <a:close/>
              </a:path>
            </a:pathLst>
          </a:custGeom>
          <a:solidFill>
            <a:srgbClr val="806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8918" y="5507851"/>
            <a:ext cx="4971415" cy="17780"/>
          </a:xfrm>
          <a:custGeom>
            <a:avLst/>
            <a:gdLst/>
            <a:ahLst/>
            <a:cxnLst/>
            <a:rect l="l" t="t" r="r" b="b"/>
            <a:pathLst>
              <a:path w="4971415" h="17779">
                <a:moveTo>
                  <a:pt x="4970907" y="0"/>
                </a:moveTo>
                <a:lnTo>
                  <a:pt x="0" y="0"/>
                </a:lnTo>
                <a:lnTo>
                  <a:pt x="0" y="17638"/>
                </a:lnTo>
                <a:lnTo>
                  <a:pt x="4970907" y="17638"/>
                </a:lnTo>
                <a:lnTo>
                  <a:pt x="4970907" y="0"/>
                </a:lnTo>
                <a:close/>
              </a:path>
            </a:pathLst>
          </a:custGeom>
          <a:solidFill>
            <a:srgbClr val="806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987833" y="5487277"/>
            <a:ext cx="4971415" cy="17780"/>
          </a:xfrm>
          <a:custGeom>
            <a:avLst/>
            <a:gdLst/>
            <a:ahLst/>
            <a:cxnLst/>
            <a:rect l="l" t="t" r="r" b="b"/>
            <a:pathLst>
              <a:path w="4971415" h="17779">
                <a:moveTo>
                  <a:pt x="4970907" y="0"/>
                </a:moveTo>
                <a:lnTo>
                  <a:pt x="0" y="0"/>
                </a:lnTo>
                <a:lnTo>
                  <a:pt x="0" y="17638"/>
                </a:lnTo>
                <a:lnTo>
                  <a:pt x="4970907" y="17638"/>
                </a:lnTo>
                <a:lnTo>
                  <a:pt x="4970907" y="0"/>
                </a:lnTo>
                <a:close/>
              </a:path>
            </a:pathLst>
          </a:custGeom>
          <a:solidFill>
            <a:srgbClr val="806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8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290"/>
              <a:t>CNN</a:t>
            </a:r>
            <a:r>
              <a:rPr dirty="0" spc="65"/>
              <a:t> </a:t>
            </a:r>
            <a:r>
              <a:rPr dirty="0" spc="285"/>
              <a:t>Model</a:t>
            </a:r>
            <a:r>
              <a:rPr dirty="0" spc="65"/>
              <a:t> </a:t>
            </a:r>
            <a:r>
              <a:rPr dirty="0" spc="254"/>
              <a:t>Workflow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7096" y="1540220"/>
            <a:ext cx="4547870" cy="108267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400" spc="-25">
                <a:solidFill>
                  <a:srgbClr val="D9E1FF"/>
                </a:solidFill>
                <a:latin typeface="Tahoma"/>
                <a:cs typeface="Tahoma"/>
              </a:rPr>
              <a:t>01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1400" spc="-145" b="1">
                <a:solidFill>
                  <a:srgbClr val="D9E1FF"/>
                </a:solidFill>
                <a:latin typeface="Tahoma"/>
                <a:cs typeface="Tahoma"/>
              </a:rPr>
              <a:t>Load</a:t>
            </a:r>
            <a:r>
              <a:rPr dirty="0" sz="1400" spc="-160" b="1">
                <a:solidFill>
                  <a:srgbClr val="D9E1FF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D9E1FF"/>
                </a:solidFill>
                <a:latin typeface="Tahoma"/>
                <a:cs typeface="Tahoma"/>
              </a:rPr>
              <a:t>Dataset</a:t>
            </a:r>
            <a:endParaRPr sz="1400">
              <a:latin typeface="Tahoma"/>
              <a:cs typeface="Tahoma"/>
            </a:endParaRPr>
          </a:p>
          <a:p>
            <a:pPr marL="12700" marR="5080">
              <a:lnSpc>
                <a:spcPct val="120500"/>
              </a:lnSpc>
              <a:spcBef>
                <a:spcPts val="225"/>
              </a:spcBef>
            </a:pP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Read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pomegranate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images</a:t>
            </a:r>
            <a:r>
              <a:rPr dirty="0" sz="1400" spc="9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from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organized</a:t>
            </a:r>
            <a:r>
              <a:rPr dirty="0" sz="1400" spc="9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class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folders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(Healthy</a:t>
            </a:r>
            <a:r>
              <a:rPr dirty="0" sz="1400" spc="5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/</a:t>
            </a:r>
            <a:r>
              <a:rPr dirty="0" sz="1400" spc="6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Diseased)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096" y="4031198"/>
            <a:ext cx="4639310" cy="104711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400" spc="-25">
                <a:solidFill>
                  <a:srgbClr val="D9E1FF"/>
                </a:solidFill>
                <a:latin typeface="Tahoma"/>
                <a:cs typeface="Tahoma"/>
              </a:rPr>
              <a:t>03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dirty="0" sz="1650" spc="80">
                <a:solidFill>
                  <a:srgbClr val="D9E1FF"/>
                </a:solidFill>
                <a:latin typeface="Verdana"/>
                <a:cs typeface="Verdana"/>
              </a:rPr>
              <a:t>Train</a:t>
            </a:r>
            <a:r>
              <a:rPr dirty="0" sz="1650" spc="40">
                <a:solidFill>
                  <a:srgbClr val="D9E1FF"/>
                </a:solidFill>
                <a:latin typeface="Verdana"/>
                <a:cs typeface="Verdana"/>
              </a:rPr>
              <a:t> </a:t>
            </a:r>
            <a:r>
              <a:rPr dirty="0" sz="1650" spc="155">
                <a:solidFill>
                  <a:srgbClr val="D9E1FF"/>
                </a:solidFill>
                <a:latin typeface="Verdana"/>
                <a:cs typeface="Verdana"/>
              </a:rPr>
              <a:t>CNN</a:t>
            </a:r>
            <a:r>
              <a:rPr dirty="0" sz="1650" spc="45">
                <a:solidFill>
                  <a:srgbClr val="D9E1FF"/>
                </a:solidFill>
                <a:latin typeface="Verdana"/>
                <a:cs typeface="Verdana"/>
              </a:rPr>
              <a:t> </a:t>
            </a:r>
            <a:r>
              <a:rPr dirty="0" sz="1650" spc="145">
                <a:solidFill>
                  <a:srgbClr val="D9E1FF"/>
                </a:solidFill>
                <a:latin typeface="Verdana"/>
                <a:cs typeface="Verdana"/>
              </a:rPr>
              <a:t>Model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ts val="2020"/>
              </a:lnSpc>
            </a:pP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Feed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data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through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convolutional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layers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to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extract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disease features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90814" y="3915493"/>
            <a:ext cx="4669790" cy="120523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400" spc="-25">
                <a:solidFill>
                  <a:srgbClr val="D9E1FF"/>
                </a:solidFill>
                <a:latin typeface="Tahoma"/>
                <a:cs typeface="Tahoma"/>
              </a:rPr>
              <a:t>04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1650" spc="65">
                <a:solidFill>
                  <a:srgbClr val="D9E1FF"/>
                </a:solidFill>
                <a:latin typeface="Verdana"/>
                <a:cs typeface="Verdana"/>
              </a:rPr>
              <a:t>Test</a:t>
            </a:r>
            <a:r>
              <a:rPr dirty="0" sz="1650" spc="15">
                <a:solidFill>
                  <a:srgbClr val="D9E1FF"/>
                </a:solidFill>
                <a:latin typeface="Verdana"/>
                <a:cs typeface="Verdana"/>
              </a:rPr>
              <a:t> </a:t>
            </a:r>
            <a:r>
              <a:rPr dirty="0" sz="1650">
                <a:solidFill>
                  <a:srgbClr val="D9E1FF"/>
                </a:solidFill>
                <a:latin typeface="Verdana"/>
                <a:cs typeface="Verdana"/>
              </a:rPr>
              <a:t>&amp;</a:t>
            </a:r>
            <a:r>
              <a:rPr dirty="0" sz="1650" spc="20">
                <a:solidFill>
                  <a:srgbClr val="D9E1FF"/>
                </a:solidFill>
                <a:latin typeface="Verdana"/>
                <a:cs typeface="Verdana"/>
              </a:rPr>
              <a:t> </a:t>
            </a:r>
            <a:r>
              <a:rPr dirty="0" sz="1650" spc="130">
                <a:solidFill>
                  <a:srgbClr val="D9E1FF"/>
                </a:solidFill>
                <a:latin typeface="Verdana"/>
                <a:cs typeface="Verdana"/>
              </a:rPr>
              <a:t>Predict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ts val="2020"/>
              </a:lnSpc>
            </a:pP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Run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sample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images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through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the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trained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model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and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output classification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0814" y="1685233"/>
            <a:ext cx="4740275" cy="82804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400" spc="-25">
                <a:solidFill>
                  <a:srgbClr val="D9E1FF"/>
                </a:solidFill>
                <a:latin typeface="Tahoma"/>
                <a:cs typeface="Tahoma"/>
              </a:rPr>
              <a:t>02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dirty="0" sz="1650" spc="120">
                <a:solidFill>
                  <a:srgbClr val="D9E1FF"/>
                </a:solidFill>
                <a:latin typeface="Verdana"/>
                <a:cs typeface="Verdana"/>
              </a:rPr>
              <a:t>Preprocess</a:t>
            </a:r>
            <a:r>
              <a:rPr dirty="0" sz="1650" spc="25">
                <a:solidFill>
                  <a:srgbClr val="D9E1FF"/>
                </a:solidFill>
                <a:latin typeface="Verdana"/>
                <a:cs typeface="Verdana"/>
              </a:rPr>
              <a:t> </a:t>
            </a:r>
            <a:r>
              <a:rPr dirty="0" sz="1650">
                <a:solidFill>
                  <a:srgbClr val="D9E1FF"/>
                </a:solidFill>
                <a:latin typeface="Verdana"/>
                <a:cs typeface="Verdana"/>
              </a:rPr>
              <a:t>&amp;</a:t>
            </a:r>
            <a:r>
              <a:rPr dirty="0" sz="1650" spc="30">
                <a:solidFill>
                  <a:srgbClr val="D9E1FF"/>
                </a:solidFill>
                <a:latin typeface="Verdana"/>
                <a:cs typeface="Verdana"/>
              </a:rPr>
              <a:t> </a:t>
            </a:r>
            <a:r>
              <a:rPr dirty="0" sz="1650" spc="150">
                <a:solidFill>
                  <a:srgbClr val="D9E1FF"/>
                </a:solidFill>
                <a:latin typeface="Verdana"/>
                <a:cs typeface="Verdana"/>
              </a:rPr>
              <a:t>Augment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Resize,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normalize,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and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augment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images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for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robust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training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1"/>
            <a:ext cx="11430635" cy="7124700"/>
          </a:xfrm>
          <a:custGeom>
            <a:avLst/>
            <a:gdLst/>
            <a:ahLst/>
            <a:cxnLst/>
            <a:rect l="l" t="t" r="r" b="b"/>
            <a:pathLst>
              <a:path w="11430635" h="7124700">
                <a:moveTo>
                  <a:pt x="11430574" y="7124395"/>
                </a:moveTo>
                <a:lnTo>
                  <a:pt x="0" y="7124395"/>
                </a:lnTo>
                <a:lnTo>
                  <a:pt x="0" y="0"/>
                </a:lnTo>
                <a:lnTo>
                  <a:pt x="11430574" y="0"/>
                </a:lnTo>
                <a:lnTo>
                  <a:pt x="11430574" y="7124395"/>
                </a:lnTo>
                <a:close/>
              </a:path>
            </a:pathLst>
          </a:custGeom>
          <a:solidFill>
            <a:srgbClr val="0C09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957" y="2142842"/>
            <a:ext cx="6448529" cy="36482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581576" y="340027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6" y="57147"/>
                </a:moveTo>
                <a:lnTo>
                  <a:pt x="24788" y="57147"/>
                </a:lnTo>
                <a:lnTo>
                  <a:pt x="21130" y="56422"/>
                </a:lnTo>
                <a:lnTo>
                  <a:pt x="0" y="32359"/>
                </a:lnTo>
                <a:lnTo>
                  <a:pt x="0" y="24788"/>
                </a:lnTo>
                <a:lnTo>
                  <a:pt x="24788" y="0"/>
                </a:lnTo>
                <a:lnTo>
                  <a:pt x="32356" y="0"/>
                </a:lnTo>
                <a:lnTo>
                  <a:pt x="57147" y="24788"/>
                </a:lnTo>
                <a:lnTo>
                  <a:pt x="57147" y="32359"/>
                </a:lnTo>
                <a:lnTo>
                  <a:pt x="32356" y="57147"/>
                </a:lnTo>
                <a:close/>
              </a:path>
            </a:pathLst>
          </a:custGeom>
          <a:solidFill>
            <a:srgbClr val="D9E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581576" y="375268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6" y="57147"/>
                </a:moveTo>
                <a:lnTo>
                  <a:pt x="24788" y="57147"/>
                </a:lnTo>
                <a:lnTo>
                  <a:pt x="21130" y="56422"/>
                </a:lnTo>
                <a:lnTo>
                  <a:pt x="0" y="32357"/>
                </a:lnTo>
                <a:lnTo>
                  <a:pt x="0" y="24788"/>
                </a:lnTo>
                <a:lnTo>
                  <a:pt x="24788" y="0"/>
                </a:lnTo>
                <a:lnTo>
                  <a:pt x="32356" y="0"/>
                </a:lnTo>
                <a:lnTo>
                  <a:pt x="57147" y="24788"/>
                </a:lnTo>
                <a:lnTo>
                  <a:pt x="57147" y="32357"/>
                </a:lnTo>
                <a:lnTo>
                  <a:pt x="32356" y="57147"/>
                </a:lnTo>
                <a:close/>
              </a:path>
            </a:pathLst>
          </a:custGeom>
          <a:solidFill>
            <a:srgbClr val="D9E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581576" y="410509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6" y="57147"/>
                </a:moveTo>
                <a:lnTo>
                  <a:pt x="24788" y="57147"/>
                </a:lnTo>
                <a:lnTo>
                  <a:pt x="21130" y="56425"/>
                </a:lnTo>
                <a:lnTo>
                  <a:pt x="0" y="32359"/>
                </a:lnTo>
                <a:lnTo>
                  <a:pt x="0" y="24790"/>
                </a:lnTo>
                <a:lnTo>
                  <a:pt x="24788" y="0"/>
                </a:lnTo>
                <a:lnTo>
                  <a:pt x="32356" y="0"/>
                </a:lnTo>
                <a:lnTo>
                  <a:pt x="57147" y="24790"/>
                </a:lnTo>
                <a:lnTo>
                  <a:pt x="57147" y="32359"/>
                </a:lnTo>
                <a:lnTo>
                  <a:pt x="32356" y="57147"/>
                </a:lnTo>
                <a:close/>
              </a:path>
            </a:pathLst>
          </a:custGeom>
          <a:solidFill>
            <a:srgbClr val="D9E1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7532999" y="4771630"/>
            <a:ext cx="3267710" cy="1647825"/>
            <a:chOff x="7532999" y="4771630"/>
            <a:chExt cx="3267710" cy="1647825"/>
          </a:xfrm>
        </p:grpSpPr>
        <p:sp>
          <p:nvSpPr>
            <p:cNvPr id="8" name="object 8"/>
            <p:cNvSpPr/>
            <p:nvPr/>
          </p:nvSpPr>
          <p:spPr>
            <a:xfrm>
              <a:off x="7532999" y="4771630"/>
              <a:ext cx="3267710" cy="1647825"/>
            </a:xfrm>
            <a:custGeom>
              <a:avLst/>
              <a:gdLst/>
              <a:ahLst/>
              <a:cxnLst/>
              <a:rect l="l" t="t" r="r" b="b"/>
              <a:pathLst>
                <a:path w="3267709" h="1647825">
                  <a:moveTo>
                    <a:pt x="3250832" y="1647554"/>
                  </a:moveTo>
                  <a:lnTo>
                    <a:pt x="16857" y="1647554"/>
                  </a:lnTo>
                  <a:lnTo>
                    <a:pt x="11267" y="1645241"/>
                  </a:lnTo>
                  <a:lnTo>
                    <a:pt x="0" y="1628376"/>
                  </a:lnTo>
                  <a:lnTo>
                    <a:pt x="0" y="19752"/>
                  </a:lnTo>
                  <a:lnTo>
                    <a:pt x="3247934" y="0"/>
                  </a:lnTo>
                  <a:lnTo>
                    <a:pt x="3250832" y="571"/>
                  </a:lnTo>
                  <a:lnTo>
                    <a:pt x="3267688" y="19752"/>
                  </a:lnTo>
                  <a:lnTo>
                    <a:pt x="3267688" y="1628376"/>
                  </a:lnTo>
                  <a:lnTo>
                    <a:pt x="3250832" y="1647554"/>
                  </a:lnTo>
                  <a:close/>
                </a:path>
              </a:pathLst>
            </a:custGeom>
            <a:solidFill>
              <a:srgbClr val="173A1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7338" y="5038158"/>
              <a:ext cx="180263" cy="180263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00025">
              <a:lnSpc>
                <a:spcPct val="100000"/>
              </a:lnSpc>
              <a:spcBef>
                <a:spcPts val="125"/>
              </a:spcBef>
            </a:pPr>
            <a:r>
              <a:rPr dirty="0" spc="285"/>
              <a:t>Demo</a:t>
            </a:r>
            <a:r>
              <a:rPr dirty="0" spc="75"/>
              <a:t> </a:t>
            </a:r>
            <a:r>
              <a:rPr dirty="0" spc="150"/>
              <a:t>Interface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523490" y="1390990"/>
            <a:ext cx="3435350" cy="472186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34200"/>
              </a:lnSpc>
              <a:spcBef>
                <a:spcPts val="20"/>
              </a:spcBef>
            </a:pPr>
            <a:r>
              <a:rPr dirty="0" sz="1650" spc="125">
                <a:solidFill>
                  <a:srgbClr val="FFFFFF"/>
                </a:solidFill>
                <a:latin typeface="Verdana"/>
                <a:cs typeface="Verdana"/>
              </a:rPr>
              <a:t>Built</a:t>
            </a:r>
            <a:r>
              <a:rPr dirty="0" sz="1650" spc="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50" spc="14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dirty="0" sz="1650" spc="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50" spc="145">
                <a:solidFill>
                  <a:srgbClr val="FFFFFF"/>
                </a:solidFill>
                <a:latin typeface="Verdana"/>
                <a:cs typeface="Verdana"/>
              </a:rPr>
              <a:t>Python</a:t>
            </a:r>
            <a:r>
              <a:rPr dirty="0" sz="1650" spc="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50" spc="50">
                <a:solidFill>
                  <a:srgbClr val="FFFFFF"/>
                </a:solidFill>
                <a:latin typeface="Verdana"/>
                <a:cs typeface="Verdana"/>
              </a:rPr>
              <a:t>(Streamlit)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clean,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interactive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demo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interface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0">
                <a:solidFill>
                  <a:srgbClr val="D9E1FF"/>
                </a:solidFill>
                <a:latin typeface="Microsoft Sans Serif"/>
                <a:cs typeface="Microsoft Sans Serif"/>
              </a:rPr>
              <a:t>that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makes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the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model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accessible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5">
                <a:solidFill>
                  <a:srgbClr val="D9E1FF"/>
                </a:solidFill>
                <a:latin typeface="Microsoft Sans Serif"/>
                <a:cs typeface="Microsoft Sans Serif"/>
              </a:rPr>
              <a:t>and</a:t>
            </a:r>
            <a:r>
              <a:rPr dirty="0" sz="1400" spc="50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evaluable</a:t>
            </a:r>
            <a:r>
              <a:rPr dirty="0" sz="1400" spc="10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without</a:t>
            </a:r>
            <a:r>
              <a:rPr dirty="0" sz="1400" spc="10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any</a:t>
            </a:r>
            <a:r>
              <a:rPr dirty="0" sz="1400" spc="10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command-</a:t>
            </a:r>
            <a:r>
              <a:rPr dirty="0" sz="1400" spc="-20">
                <a:solidFill>
                  <a:srgbClr val="D9E1FF"/>
                </a:solidFill>
                <a:latin typeface="Microsoft Sans Serif"/>
                <a:cs typeface="Microsoft Sans Serif"/>
              </a:rPr>
              <a:t>line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interaction.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400">
              <a:latin typeface="Microsoft Sans Serif"/>
              <a:cs typeface="Microsoft Sans Serif"/>
            </a:endParaRPr>
          </a:p>
          <a:p>
            <a:pPr marL="303530" marR="411480">
              <a:lnSpc>
                <a:spcPct val="160700"/>
              </a:lnSpc>
              <a:spcBef>
                <a:spcPts val="5"/>
              </a:spcBef>
            </a:pPr>
            <a:r>
              <a:rPr dirty="0" sz="1400" b="1">
                <a:solidFill>
                  <a:srgbClr val="D9E1FF"/>
                </a:solidFill>
                <a:latin typeface="Arial"/>
                <a:cs typeface="Arial"/>
              </a:rPr>
              <a:t>Upload</a:t>
            </a:r>
            <a:r>
              <a:rPr dirty="0" sz="1400" spc="80" b="1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</a:t>
            </a:r>
            <a:r>
              <a:rPr dirty="0" sz="1400" spc="10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pomegranate</a:t>
            </a:r>
            <a:r>
              <a:rPr dirty="0" sz="1400" spc="10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0">
                <a:solidFill>
                  <a:srgbClr val="D9E1FF"/>
                </a:solidFill>
                <a:latin typeface="Microsoft Sans Serif"/>
                <a:cs typeface="Microsoft Sans Serif"/>
              </a:rPr>
              <a:t>image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Click</a:t>
            </a:r>
            <a:r>
              <a:rPr dirty="0" sz="1400" spc="6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b="1">
                <a:solidFill>
                  <a:srgbClr val="D9E1FF"/>
                </a:solidFill>
                <a:latin typeface="Arial"/>
                <a:cs typeface="Arial"/>
              </a:rPr>
              <a:t>"Predict"</a:t>
            </a:r>
            <a:r>
              <a:rPr dirty="0" sz="1400" spc="45" b="1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to</a:t>
            </a:r>
            <a:r>
              <a:rPr dirty="0" sz="1400" spc="6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run</a:t>
            </a:r>
            <a:r>
              <a:rPr dirty="0" sz="1400" spc="6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inference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View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result: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b="1">
                <a:solidFill>
                  <a:srgbClr val="8061FF"/>
                </a:solidFill>
                <a:latin typeface="Arial"/>
                <a:cs typeface="Arial"/>
              </a:rPr>
              <a:t>Healthy</a:t>
            </a:r>
            <a:r>
              <a:rPr dirty="0" sz="1400" spc="45" b="1">
                <a:solidFill>
                  <a:srgbClr val="8061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or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 b="1">
                <a:solidFill>
                  <a:srgbClr val="D9E1FF"/>
                </a:solidFill>
                <a:latin typeface="Arial"/>
                <a:cs typeface="Arial"/>
              </a:rPr>
              <a:t>Diseased</a:t>
            </a:r>
            <a:endParaRPr sz="1400">
              <a:latin typeface="Arial"/>
              <a:cs typeface="Arial"/>
            </a:endParaRPr>
          </a:p>
          <a:p>
            <a:pPr marL="303530">
              <a:lnSpc>
                <a:spcPct val="100000"/>
              </a:lnSpc>
              <a:spcBef>
                <a:spcPts val="645"/>
              </a:spcBef>
            </a:pP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with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confidence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score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400">
              <a:latin typeface="Microsoft Sans Serif"/>
              <a:cs typeface="Microsoft Sans Serif"/>
            </a:endParaRPr>
          </a:p>
          <a:p>
            <a:pPr marL="604520" marR="546100">
              <a:lnSpc>
                <a:spcPct val="132400"/>
              </a:lnSpc>
            </a:pP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dirty="0" sz="1400" spc="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interface</a:t>
            </a:r>
            <a:r>
              <a:rPr dirty="0" sz="1400" spc="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Microsoft Sans Serif"/>
                <a:cs typeface="Microsoft Sans Serif"/>
              </a:rPr>
              <a:t>simulates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exactly</a:t>
            </a:r>
            <a:r>
              <a:rPr dirty="0" sz="1400" spc="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what</a:t>
            </a:r>
            <a:r>
              <a:rPr dirty="0" sz="1400" spc="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dirty="0" sz="1400" spc="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farmer-</a:t>
            </a:r>
            <a:r>
              <a:rPr dirty="0" sz="1400" spc="-10">
                <a:solidFill>
                  <a:srgbClr val="FFFFFF"/>
                </a:solidFill>
                <a:latin typeface="Microsoft Sans Serif"/>
                <a:cs typeface="Microsoft Sans Serif"/>
              </a:rPr>
              <a:t>facing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app</a:t>
            </a:r>
            <a:r>
              <a:rPr dirty="0" sz="1400" spc="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would</a:t>
            </a:r>
            <a:r>
              <a:rPr dirty="0" sz="1400" spc="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look</a:t>
            </a:r>
            <a:r>
              <a:rPr dirty="0" sz="1400" spc="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like</a:t>
            </a:r>
            <a:r>
              <a:rPr dirty="0" sz="1400" spc="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in</a:t>
            </a:r>
            <a:r>
              <a:rPr dirty="0" sz="1400" spc="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Microsoft Sans Serif"/>
                <a:cs typeface="Microsoft Sans Serif"/>
              </a:rPr>
              <a:t>field </a:t>
            </a:r>
            <a:r>
              <a:rPr dirty="0" sz="1400" spc="-10">
                <a:solidFill>
                  <a:srgbClr val="FFFFFF"/>
                </a:solidFill>
                <a:latin typeface="Microsoft Sans Serif"/>
                <a:cs typeface="Microsoft Sans Serif"/>
              </a:rPr>
              <a:t>deployment.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761"/>
            <a:ext cx="11430000" cy="7620000"/>
          </a:xfrm>
          <a:custGeom>
            <a:avLst/>
            <a:gdLst/>
            <a:ahLst/>
            <a:cxnLst/>
            <a:rect l="l" t="t" r="r" b="b"/>
            <a:pathLst>
              <a:path w="11430000" h="7620000">
                <a:moveTo>
                  <a:pt x="11429998" y="7619999"/>
                </a:moveTo>
                <a:lnTo>
                  <a:pt x="0" y="7619999"/>
                </a:lnTo>
                <a:lnTo>
                  <a:pt x="0" y="0"/>
                </a:lnTo>
                <a:lnTo>
                  <a:pt x="11429998" y="0"/>
                </a:lnTo>
                <a:lnTo>
                  <a:pt x="11429998" y="7619999"/>
                </a:lnTo>
                <a:close/>
              </a:path>
            </a:pathLst>
          </a:custGeom>
          <a:solidFill>
            <a:srgbClr val="0C09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222" y="1523047"/>
            <a:ext cx="5383529" cy="538352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00025">
              <a:lnSpc>
                <a:spcPct val="100000"/>
              </a:lnSpc>
              <a:spcBef>
                <a:spcPts val="125"/>
              </a:spcBef>
            </a:pPr>
            <a:r>
              <a:rPr dirty="0" spc="175"/>
              <a:t>Core</a:t>
            </a:r>
            <a:r>
              <a:rPr dirty="0" spc="75"/>
              <a:t> </a:t>
            </a:r>
            <a:r>
              <a:rPr dirty="0" spc="140"/>
              <a:t>Intelligence:</a:t>
            </a:r>
            <a:r>
              <a:rPr dirty="0" spc="80"/>
              <a:t> </a:t>
            </a:r>
            <a:r>
              <a:rPr dirty="0" spc="155"/>
              <a:t>The</a:t>
            </a:r>
            <a:r>
              <a:rPr dirty="0" spc="75"/>
              <a:t> </a:t>
            </a:r>
            <a:r>
              <a:rPr dirty="0" spc="290"/>
              <a:t>CNN</a:t>
            </a:r>
            <a:r>
              <a:rPr dirty="0" spc="80"/>
              <a:t> </a:t>
            </a:r>
            <a:r>
              <a:rPr dirty="0" spc="275"/>
              <a:t>Model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63851" y="2799357"/>
            <a:ext cx="4315460" cy="263398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700"/>
              </a:spcBef>
            </a:pPr>
            <a:r>
              <a:rPr dirty="0" sz="1650" spc="165">
                <a:solidFill>
                  <a:srgbClr val="FFFFFF"/>
                </a:solidFill>
                <a:latin typeface="Verdana"/>
                <a:cs typeface="Verdana"/>
              </a:rPr>
              <a:t>What</a:t>
            </a:r>
            <a:r>
              <a:rPr dirty="0" sz="1650" spc="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50" spc="11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1650" spc="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50" spc="155">
                <a:solidFill>
                  <a:srgbClr val="FFFFFF"/>
                </a:solidFill>
                <a:latin typeface="Verdana"/>
                <a:cs typeface="Verdana"/>
              </a:rPr>
              <a:t>CNN</a:t>
            </a:r>
            <a:r>
              <a:rPr dirty="0" sz="1650" spc="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50" spc="90">
                <a:solidFill>
                  <a:srgbClr val="FFFFFF"/>
                </a:solidFill>
                <a:latin typeface="Verdana"/>
                <a:cs typeface="Verdana"/>
              </a:rPr>
              <a:t>Learns</a:t>
            </a:r>
            <a:endParaRPr sz="1650">
              <a:latin typeface="Verdana"/>
              <a:cs typeface="Verdana"/>
            </a:endParaRPr>
          </a:p>
          <a:p>
            <a:pPr algn="just" marL="12700" marR="5080">
              <a:lnSpc>
                <a:spcPts val="2250"/>
              </a:lnSpc>
              <a:spcBef>
                <a:spcPts val="120"/>
              </a:spcBef>
            </a:pP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The</a:t>
            </a:r>
            <a:r>
              <a:rPr dirty="0" sz="1400" spc="31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convolutional</a:t>
            </a:r>
            <a:r>
              <a:rPr dirty="0" sz="1400" spc="32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layers</a:t>
            </a:r>
            <a:r>
              <a:rPr dirty="0" sz="1400" spc="32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automatically</a:t>
            </a:r>
            <a:r>
              <a:rPr dirty="0" sz="1400" spc="31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detect</a:t>
            </a:r>
            <a:r>
              <a:rPr dirty="0" sz="1400" spc="32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visual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disease</a:t>
            </a:r>
            <a:r>
              <a:rPr dirty="0" sz="1400" spc="100">
                <a:solidFill>
                  <a:srgbClr val="D9E1FF"/>
                </a:solidFill>
                <a:latin typeface="Microsoft Sans Serif"/>
                <a:cs typeface="Microsoft Sans Serif"/>
              </a:rPr>
              <a:t> 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markers</a:t>
            </a:r>
            <a:r>
              <a:rPr dirty="0" sz="1400" spc="58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600">
                <a:solidFill>
                  <a:srgbClr val="D9E1FF"/>
                </a:solidFill>
                <a:latin typeface="Microsoft Sans Serif"/>
                <a:cs typeface="Microsoft Sans Serif"/>
              </a:rPr>
              <a:t>—</a:t>
            </a:r>
            <a:r>
              <a:rPr dirty="0" sz="1400" spc="58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discoloration,</a:t>
            </a:r>
            <a:r>
              <a:rPr dirty="0" sz="1400" spc="100">
                <a:solidFill>
                  <a:srgbClr val="D9E1FF"/>
                </a:solidFill>
                <a:latin typeface="Microsoft Sans Serif"/>
                <a:cs typeface="Microsoft Sans Serif"/>
              </a:rPr>
              <a:t> 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lesions,</a:t>
            </a:r>
            <a:r>
              <a:rPr dirty="0" sz="1400" spc="105">
                <a:solidFill>
                  <a:srgbClr val="D9E1FF"/>
                </a:solidFill>
                <a:latin typeface="Microsoft Sans Serif"/>
                <a:cs typeface="Microsoft Sans Serif"/>
              </a:rPr>
              <a:t> 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texture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anomalies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600">
                <a:solidFill>
                  <a:srgbClr val="D9E1FF"/>
                </a:solidFill>
                <a:latin typeface="Microsoft Sans Serif"/>
                <a:cs typeface="Microsoft Sans Serif"/>
              </a:rPr>
              <a:t>—</a:t>
            </a:r>
            <a:r>
              <a:rPr dirty="0" sz="1400" spc="6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without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manual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feature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engineering.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400">
              <a:latin typeface="Microsoft Sans Serif"/>
              <a:cs typeface="Microsoft Sans Serif"/>
            </a:endParaRPr>
          </a:p>
          <a:p>
            <a:pPr algn="just" marL="12700" marR="5080">
              <a:lnSpc>
                <a:spcPct val="133900"/>
              </a:lnSpc>
            </a:pPr>
            <a:r>
              <a:rPr dirty="0" sz="1400" b="1">
                <a:solidFill>
                  <a:srgbClr val="D9E1FF"/>
                </a:solidFill>
                <a:latin typeface="Arial"/>
                <a:cs typeface="Arial"/>
              </a:rPr>
              <a:t>Key</a:t>
            </a:r>
            <a:r>
              <a:rPr dirty="0" sz="1400" spc="235" b="1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D9E1FF"/>
                </a:solidFill>
                <a:latin typeface="Arial"/>
                <a:cs typeface="Arial"/>
              </a:rPr>
              <a:t>design</a:t>
            </a:r>
            <a:r>
              <a:rPr dirty="0" sz="1400" spc="235" b="1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D9E1FF"/>
                </a:solidFill>
                <a:latin typeface="Arial"/>
                <a:cs typeface="Arial"/>
              </a:rPr>
              <a:t>principle:</a:t>
            </a:r>
            <a:r>
              <a:rPr dirty="0" sz="1400" spc="235" b="1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The</a:t>
            </a:r>
            <a:r>
              <a:rPr dirty="0" sz="1400" spc="254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intelligence</a:t>
            </a:r>
            <a:r>
              <a:rPr dirty="0" sz="1400" spc="254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of</a:t>
            </a:r>
            <a:r>
              <a:rPr dirty="0" sz="1400" spc="26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detection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is</a:t>
            </a:r>
            <a:r>
              <a:rPr dirty="0" sz="1400" spc="165">
                <a:solidFill>
                  <a:srgbClr val="D9E1FF"/>
                </a:solidFill>
                <a:latin typeface="Microsoft Sans Serif"/>
                <a:cs typeface="Microsoft Sans Serif"/>
              </a:rPr>
              <a:t> 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fully</a:t>
            </a:r>
            <a:r>
              <a:rPr dirty="0" sz="1400" spc="165">
                <a:solidFill>
                  <a:srgbClr val="D9E1FF"/>
                </a:solidFill>
                <a:latin typeface="Microsoft Sans Serif"/>
                <a:cs typeface="Microsoft Sans Serif"/>
              </a:rPr>
              <a:t> 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hardware-independent.</a:t>
            </a:r>
            <a:r>
              <a:rPr dirty="0" sz="1400" spc="170">
                <a:solidFill>
                  <a:srgbClr val="D9E1FF"/>
                </a:solidFill>
                <a:latin typeface="Microsoft Sans Serif"/>
                <a:cs typeface="Microsoft Sans Serif"/>
              </a:rPr>
              <a:t> 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The</a:t>
            </a:r>
            <a:r>
              <a:rPr dirty="0" sz="1400" spc="165">
                <a:solidFill>
                  <a:srgbClr val="D9E1FF"/>
                </a:solidFill>
                <a:latin typeface="Microsoft Sans Serif"/>
                <a:cs typeface="Microsoft Sans Serif"/>
              </a:rPr>
              <a:t> 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same</a:t>
            </a:r>
            <a:r>
              <a:rPr dirty="0" sz="1400" spc="165">
                <a:solidFill>
                  <a:srgbClr val="D9E1FF"/>
                </a:solidFill>
                <a:latin typeface="Microsoft Sans Serif"/>
                <a:cs typeface="Microsoft Sans Serif"/>
              </a:rPr>
              <a:t> 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trained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model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runs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on</a:t>
            </a:r>
            <a:r>
              <a:rPr dirty="0" sz="1400" spc="90">
                <a:solidFill>
                  <a:srgbClr val="D9E1FF"/>
                </a:solidFill>
                <a:latin typeface="Microsoft Sans Serif"/>
                <a:cs typeface="Microsoft Sans Serif"/>
              </a:rPr>
              <a:t> 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laptop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today</a:t>
            </a:r>
            <a:r>
              <a:rPr dirty="0" sz="1400" spc="90">
                <a:solidFill>
                  <a:srgbClr val="D9E1FF"/>
                </a:solidFill>
                <a:latin typeface="Microsoft Sans Serif"/>
                <a:cs typeface="Microsoft Sans Serif"/>
              </a:rPr>
              <a:t> 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and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Raspberry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 </a:t>
            </a:r>
            <a:r>
              <a:rPr dirty="0" sz="1400" spc="-25">
                <a:solidFill>
                  <a:srgbClr val="D9E1FF"/>
                </a:solidFill>
                <a:latin typeface="Microsoft Sans Serif"/>
                <a:cs typeface="Microsoft Sans Serif"/>
              </a:rPr>
              <a:t>Pi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tomorrow.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" y="-379"/>
            <a:ext cx="11430000" cy="6438265"/>
          </a:xfrm>
          <a:custGeom>
            <a:avLst/>
            <a:gdLst/>
            <a:ahLst/>
            <a:cxnLst/>
            <a:rect l="l" t="t" r="r" b="b"/>
            <a:pathLst>
              <a:path w="11430000" h="6438265">
                <a:moveTo>
                  <a:pt x="11429425" y="0"/>
                </a:moveTo>
                <a:lnTo>
                  <a:pt x="0" y="0"/>
                </a:lnTo>
                <a:lnTo>
                  <a:pt x="0" y="6437832"/>
                </a:lnTo>
                <a:lnTo>
                  <a:pt x="11429425" y="6437832"/>
                </a:lnTo>
                <a:lnTo>
                  <a:pt x="11429425" y="0"/>
                </a:lnTo>
                <a:close/>
              </a:path>
            </a:pathLst>
          </a:custGeom>
          <a:solidFill>
            <a:srgbClr val="0C09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646568" y="2728785"/>
            <a:ext cx="10135235" cy="1094105"/>
            <a:chOff x="646568" y="2728785"/>
            <a:chExt cx="10135235" cy="1094105"/>
          </a:xfrm>
        </p:grpSpPr>
        <p:sp>
          <p:nvSpPr>
            <p:cNvPr id="4" name="object 4"/>
            <p:cNvSpPr/>
            <p:nvPr/>
          </p:nvSpPr>
          <p:spPr>
            <a:xfrm>
              <a:off x="646557" y="2728785"/>
              <a:ext cx="10135235" cy="565150"/>
            </a:xfrm>
            <a:custGeom>
              <a:avLst/>
              <a:gdLst/>
              <a:ahLst/>
              <a:cxnLst/>
              <a:rect l="l" t="t" r="r" b="b"/>
              <a:pathLst>
                <a:path w="10135235" h="565150">
                  <a:moveTo>
                    <a:pt x="1960994" y="6870"/>
                  </a:moveTo>
                  <a:lnTo>
                    <a:pt x="1960130" y="4635"/>
                  </a:lnTo>
                  <a:lnTo>
                    <a:pt x="1956689" y="939"/>
                  </a:lnTo>
                  <a:lnTo>
                    <a:pt x="1954606" y="0"/>
                  </a:lnTo>
                  <a:lnTo>
                    <a:pt x="1949742" y="0"/>
                  </a:lnTo>
                  <a:lnTo>
                    <a:pt x="1947659" y="939"/>
                  </a:lnTo>
                  <a:lnTo>
                    <a:pt x="1944217" y="4635"/>
                  </a:lnTo>
                  <a:lnTo>
                    <a:pt x="1943354" y="6870"/>
                  </a:lnTo>
                  <a:lnTo>
                    <a:pt x="1943354" y="531431"/>
                  </a:lnTo>
                  <a:lnTo>
                    <a:pt x="1943354" y="534060"/>
                  </a:lnTo>
                  <a:lnTo>
                    <a:pt x="1944217" y="536295"/>
                  </a:lnTo>
                  <a:lnTo>
                    <a:pt x="1947659" y="539991"/>
                  </a:lnTo>
                  <a:lnTo>
                    <a:pt x="1949742" y="540931"/>
                  </a:lnTo>
                  <a:lnTo>
                    <a:pt x="1954606" y="540931"/>
                  </a:lnTo>
                  <a:lnTo>
                    <a:pt x="1956689" y="539991"/>
                  </a:lnTo>
                  <a:lnTo>
                    <a:pt x="1960130" y="536295"/>
                  </a:lnTo>
                  <a:lnTo>
                    <a:pt x="1960994" y="534060"/>
                  </a:lnTo>
                  <a:lnTo>
                    <a:pt x="1960994" y="6870"/>
                  </a:lnTo>
                  <a:close/>
                </a:path>
                <a:path w="10135235" h="565150">
                  <a:moveTo>
                    <a:pt x="10134803" y="553288"/>
                  </a:moveTo>
                  <a:lnTo>
                    <a:pt x="10133876" y="551205"/>
                  </a:lnTo>
                  <a:lnTo>
                    <a:pt x="10130168" y="547763"/>
                  </a:lnTo>
                  <a:lnTo>
                    <a:pt x="10127920" y="546900"/>
                  </a:lnTo>
                  <a:lnTo>
                    <a:pt x="6883" y="546900"/>
                  </a:lnTo>
                  <a:lnTo>
                    <a:pt x="4648" y="547763"/>
                  </a:lnTo>
                  <a:lnTo>
                    <a:pt x="939" y="551205"/>
                  </a:lnTo>
                  <a:lnTo>
                    <a:pt x="0" y="553288"/>
                  </a:lnTo>
                  <a:lnTo>
                    <a:pt x="0" y="555726"/>
                  </a:lnTo>
                  <a:lnTo>
                    <a:pt x="0" y="558152"/>
                  </a:lnTo>
                  <a:lnTo>
                    <a:pt x="939" y="560235"/>
                  </a:lnTo>
                  <a:lnTo>
                    <a:pt x="4648" y="563676"/>
                  </a:lnTo>
                  <a:lnTo>
                    <a:pt x="6883" y="564540"/>
                  </a:lnTo>
                  <a:lnTo>
                    <a:pt x="10127920" y="564540"/>
                  </a:lnTo>
                  <a:lnTo>
                    <a:pt x="10130168" y="563676"/>
                  </a:lnTo>
                  <a:lnTo>
                    <a:pt x="10133876" y="560235"/>
                  </a:lnTo>
                  <a:lnTo>
                    <a:pt x="10134803" y="558152"/>
                  </a:lnTo>
                  <a:lnTo>
                    <a:pt x="10134803" y="553288"/>
                  </a:lnTo>
                  <a:close/>
                </a:path>
              </a:pathLst>
            </a:custGeom>
            <a:solidFill>
              <a:srgbClr val="4441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389942" y="3070867"/>
              <a:ext cx="417830" cy="407670"/>
            </a:xfrm>
            <a:custGeom>
              <a:avLst/>
              <a:gdLst/>
              <a:ahLst/>
              <a:cxnLst/>
              <a:rect l="l" t="t" r="r" b="b"/>
              <a:pathLst>
                <a:path w="417830" h="407670">
                  <a:moveTo>
                    <a:pt x="397797" y="0"/>
                  </a:moveTo>
                  <a:lnTo>
                    <a:pt x="19678" y="0"/>
                  </a:lnTo>
                  <a:lnTo>
                    <a:pt x="16784" y="578"/>
                  </a:lnTo>
                  <a:lnTo>
                    <a:pt x="0" y="19662"/>
                  </a:lnTo>
                  <a:lnTo>
                    <a:pt x="0" y="384991"/>
                  </a:lnTo>
                  <a:lnTo>
                    <a:pt x="0" y="387996"/>
                  </a:lnTo>
                  <a:lnTo>
                    <a:pt x="19678" y="407659"/>
                  </a:lnTo>
                  <a:lnTo>
                    <a:pt x="397797" y="407659"/>
                  </a:lnTo>
                  <a:lnTo>
                    <a:pt x="417476" y="387996"/>
                  </a:lnTo>
                  <a:lnTo>
                    <a:pt x="417476" y="19662"/>
                  </a:lnTo>
                  <a:lnTo>
                    <a:pt x="400691" y="578"/>
                  </a:lnTo>
                  <a:lnTo>
                    <a:pt x="397797" y="0"/>
                  </a:lnTo>
                  <a:close/>
                </a:path>
              </a:pathLst>
            </a:custGeom>
            <a:solidFill>
              <a:srgbClr val="2A2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666267" y="3271620"/>
              <a:ext cx="17780" cy="551180"/>
            </a:xfrm>
            <a:custGeom>
              <a:avLst/>
              <a:gdLst/>
              <a:ahLst/>
              <a:cxnLst/>
              <a:rect l="l" t="t" r="r" b="b"/>
              <a:pathLst>
                <a:path w="17779" h="551179">
                  <a:moveTo>
                    <a:pt x="11253" y="0"/>
                  </a:moveTo>
                  <a:lnTo>
                    <a:pt x="6384" y="0"/>
                  </a:lnTo>
                  <a:lnTo>
                    <a:pt x="4303" y="930"/>
                  </a:lnTo>
                  <a:lnTo>
                    <a:pt x="864" y="4633"/>
                  </a:lnTo>
                  <a:lnTo>
                    <a:pt x="0" y="6874"/>
                  </a:lnTo>
                  <a:lnTo>
                    <a:pt x="0" y="541227"/>
                  </a:lnTo>
                  <a:lnTo>
                    <a:pt x="0" y="543848"/>
                  </a:lnTo>
                  <a:lnTo>
                    <a:pt x="864" y="546089"/>
                  </a:lnTo>
                  <a:lnTo>
                    <a:pt x="4303" y="549792"/>
                  </a:lnTo>
                  <a:lnTo>
                    <a:pt x="6384" y="550722"/>
                  </a:lnTo>
                  <a:lnTo>
                    <a:pt x="11253" y="550722"/>
                  </a:lnTo>
                  <a:lnTo>
                    <a:pt x="13334" y="549792"/>
                  </a:lnTo>
                  <a:lnTo>
                    <a:pt x="16773" y="546089"/>
                  </a:lnTo>
                  <a:lnTo>
                    <a:pt x="17638" y="543848"/>
                  </a:lnTo>
                  <a:lnTo>
                    <a:pt x="17638" y="6874"/>
                  </a:lnTo>
                  <a:lnTo>
                    <a:pt x="16773" y="4633"/>
                  </a:lnTo>
                  <a:lnTo>
                    <a:pt x="13334" y="930"/>
                  </a:lnTo>
                  <a:lnTo>
                    <a:pt x="11253" y="0"/>
                  </a:lnTo>
                  <a:close/>
                </a:path>
              </a:pathLst>
            </a:custGeom>
            <a:solidFill>
              <a:srgbClr val="4441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466294" y="3070562"/>
              <a:ext cx="417830" cy="407670"/>
            </a:xfrm>
            <a:custGeom>
              <a:avLst/>
              <a:gdLst/>
              <a:ahLst/>
              <a:cxnLst/>
              <a:rect l="l" t="t" r="r" b="b"/>
              <a:pathLst>
                <a:path w="417829" h="407670">
                  <a:moveTo>
                    <a:pt x="397797" y="0"/>
                  </a:moveTo>
                  <a:lnTo>
                    <a:pt x="19678" y="0"/>
                  </a:lnTo>
                  <a:lnTo>
                    <a:pt x="16784" y="578"/>
                  </a:lnTo>
                  <a:lnTo>
                    <a:pt x="0" y="19662"/>
                  </a:lnTo>
                  <a:lnTo>
                    <a:pt x="0" y="384991"/>
                  </a:lnTo>
                  <a:lnTo>
                    <a:pt x="0" y="387996"/>
                  </a:lnTo>
                  <a:lnTo>
                    <a:pt x="19678" y="407659"/>
                  </a:lnTo>
                  <a:lnTo>
                    <a:pt x="397797" y="407659"/>
                  </a:lnTo>
                  <a:lnTo>
                    <a:pt x="417476" y="387996"/>
                  </a:lnTo>
                  <a:lnTo>
                    <a:pt x="417476" y="19662"/>
                  </a:lnTo>
                  <a:lnTo>
                    <a:pt x="400691" y="578"/>
                  </a:lnTo>
                  <a:lnTo>
                    <a:pt x="397797" y="0"/>
                  </a:lnTo>
                  <a:close/>
                </a:path>
              </a:pathLst>
            </a:custGeom>
            <a:solidFill>
              <a:srgbClr val="2A2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742618" y="2728785"/>
              <a:ext cx="17780" cy="541020"/>
            </a:xfrm>
            <a:custGeom>
              <a:avLst/>
              <a:gdLst/>
              <a:ahLst/>
              <a:cxnLst/>
              <a:rect l="l" t="t" r="r" b="b"/>
              <a:pathLst>
                <a:path w="17779" h="541020">
                  <a:moveTo>
                    <a:pt x="11253" y="0"/>
                  </a:moveTo>
                  <a:lnTo>
                    <a:pt x="6384" y="0"/>
                  </a:lnTo>
                  <a:lnTo>
                    <a:pt x="4303" y="930"/>
                  </a:lnTo>
                  <a:lnTo>
                    <a:pt x="864" y="4631"/>
                  </a:lnTo>
                  <a:lnTo>
                    <a:pt x="0" y="6870"/>
                  </a:lnTo>
                  <a:lnTo>
                    <a:pt x="0" y="531428"/>
                  </a:lnTo>
                  <a:lnTo>
                    <a:pt x="0" y="534048"/>
                  </a:lnTo>
                  <a:lnTo>
                    <a:pt x="864" y="536287"/>
                  </a:lnTo>
                  <a:lnTo>
                    <a:pt x="4303" y="539988"/>
                  </a:lnTo>
                  <a:lnTo>
                    <a:pt x="6384" y="540918"/>
                  </a:lnTo>
                  <a:lnTo>
                    <a:pt x="11253" y="540918"/>
                  </a:lnTo>
                  <a:lnTo>
                    <a:pt x="13334" y="539988"/>
                  </a:lnTo>
                  <a:lnTo>
                    <a:pt x="16773" y="536287"/>
                  </a:lnTo>
                  <a:lnTo>
                    <a:pt x="17638" y="534048"/>
                  </a:lnTo>
                  <a:lnTo>
                    <a:pt x="17638" y="6870"/>
                  </a:lnTo>
                  <a:lnTo>
                    <a:pt x="16773" y="4631"/>
                  </a:lnTo>
                  <a:lnTo>
                    <a:pt x="13334" y="930"/>
                  </a:lnTo>
                  <a:lnTo>
                    <a:pt x="11253" y="0"/>
                  </a:lnTo>
                  <a:close/>
                </a:path>
              </a:pathLst>
            </a:custGeom>
            <a:solidFill>
              <a:srgbClr val="4441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542646" y="3070867"/>
              <a:ext cx="417830" cy="407670"/>
            </a:xfrm>
            <a:custGeom>
              <a:avLst/>
              <a:gdLst/>
              <a:ahLst/>
              <a:cxnLst/>
              <a:rect l="l" t="t" r="r" b="b"/>
              <a:pathLst>
                <a:path w="417829" h="407670">
                  <a:moveTo>
                    <a:pt x="397797" y="0"/>
                  </a:moveTo>
                  <a:lnTo>
                    <a:pt x="19678" y="0"/>
                  </a:lnTo>
                  <a:lnTo>
                    <a:pt x="16784" y="578"/>
                  </a:lnTo>
                  <a:lnTo>
                    <a:pt x="0" y="19662"/>
                  </a:lnTo>
                  <a:lnTo>
                    <a:pt x="0" y="384991"/>
                  </a:lnTo>
                  <a:lnTo>
                    <a:pt x="0" y="387996"/>
                  </a:lnTo>
                  <a:lnTo>
                    <a:pt x="19678" y="407659"/>
                  </a:lnTo>
                  <a:lnTo>
                    <a:pt x="397797" y="407659"/>
                  </a:lnTo>
                  <a:lnTo>
                    <a:pt x="417476" y="387996"/>
                  </a:lnTo>
                  <a:lnTo>
                    <a:pt x="417476" y="19662"/>
                  </a:lnTo>
                  <a:lnTo>
                    <a:pt x="400691" y="578"/>
                  </a:lnTo>
                  <a:lnTo>
                    <a:pt x="397797" y="0"/>
                  </a:lnTo>
                  <a:close/>
                </a:path>
              </a:pathLst>
            </a:custGeom>
            <a:solidFill>
              <a:srgbClr val="2A2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818970" y="3271620"/>
              <a:ext cx="17780" cy="551180"/>
            </a:xfrm>
            <a:custGeom>
              <a:avLst/>
              <a:gdLst/>
              <a:ahLst/>
              <a:cxnLst/>
              <a:rect l="l" t="t" r="r" b="b"/>
              <a:pathLst>
                <a:path w="17779" h="551179">
                  <a:moveTo>
                    <a:pt x="11253" y="0"/>
                  </a:moveTo>
                  <a:lnTo>
                    <a:pt x="6384" y="0"/>
                  </a:lnTo>
                  <a:lnTo>
                    <a:pt x="4303" y="930"/>
                  </a:lnTo>
                  <a:lnTo>
                    <a:pt x="864" y="4633"/>
                  </a:lnTo>
                  <a:lnTo>
                    <a:pt x="0" y="6874"/>
                  </a:lnTo>
                  <a:lnTo>
                    <a:pt x="0" y="541227"/>
                  </a:lnTo>
                  <a:lnTo>
                    <a:pt x="0" y="543848"/>
                  </a:lnTo>
                  <a:lnTo>
                    <a:pt x="864" y="546089"/>
                  </a:lnTo>
                  <a:lnTo>
                    <a:pt x="4303" y="549792"/>
                  </a:lnTo>
                  <a:lnTo>
                    <a:pt x="6384" y="550722"/>
                  </a:lnTo>
                  <a:lnTo>
                    <a:pt x="11253" y="550722"/>
                  </a:lnTo>
                  <a:lnTo>
                    <a:pt x="13334" y="549792"/>
                  </a:lnTo>
                  <a:lnTo>
                    <a:pt x="16773" y="546089"/>
                  </a:lnTo>
                  <a:lnTo>
                    <a:pt x="17638" y="543848"/>
                  </a:lnTo>
                  <a:lnTo>
                    <a:pt x="17638" y="6874"/>
                  </a:lnTo>
                  <a:lnTo>
                    <a:pt x="16773" y="4633"/>
                  </a:lnTo>
                  <a:lnTo>
                    <a:pt x="13334" y="930"/>
                  </a:lnTo>
                  <a:lnTo>
                    <a:pt x="11253" y="0"/>
                  </a:lnTo>
                  <a:close/>
                </a:path>
              </a:pathLst>
            </a:custGeom>
            <a:solidFill>
              <a:srgbClr val="4441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618997" y="3070562"/>
              <a:ext cx="417830" cy="407670"/>
            </a:xfrm>
            <a:custGeom>
              <a:avLst/>
              <a:gdLst/>
              <a:ahLst/>
              <a:cxnLst/>
              <a:rect l="l" t="t" r="r" b="b"/>
              <a:pathLst>
                <a:path w="417829" h="407670">
                  <a:moveTo>
                    <a:pt x="397797" y="0"/>
                  </a:moveTo>
                  <a:lnTo>
                    <a:pt x="19678" y="0"/>
                  </a:lnTo>
                  <a:lnTo>
                    <a:pt x="16784" y="578"/>
                  </a:lnTo>
                  <a:lnTo>
                    <a:pt x="0" y="19662"/>
                  </a:lnTo>
                  <a:lnTo>
                    <a:pt x="0" y="384991"/>
                  </a:lnTo>
                  <a:lnTo>
                    <a:pt x="0" y="387996"/>
                  </a:lnTo>
                  <a:lnTo>
                    <a:pt x="19678" y="407659"/>
                  </a:lnTo>
                  <a:lnTo>
                    <a:pt x="397797" y="407659"/>
                  </a:lnTo>
                  <a:lnTo>
                    <a:pt x="417476" y="387996"/>
                  </a:lnTo>
                  <a:lnTo>
                    <a:pt x="417476" y="19662"/>
                  </a:lnTo>
                  <a:lnTo>
                    <a:pt x="400691" y="578"/>
                  </a:lnTo>
                  <a:lnTo>
                    <a:pt x="397797" y="0"/>
                  </a:lnTo>
                  <a:close/>
                </a:path>
              </a:pathLst>
            </a:custGeom>
            <a:solidFill>
              <a:srgbClr val="2A295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7040" rIns="0" bIns="0" rtlCol="0" vert="horz">
            <a:spAutoFit/>
          </a:bodyPr>
          <a:lstStyle/>
          <a:p>
            <a:pPr marL="200025">
              <a:lnSpc>
                <a:spcPct val="100000"/>
              </a:lnSpc>
              <a:spcBef>
                <a:spcPts val="125"/>
              </a:spcBef>
            </a:pPr>
            <a:r>
              <a:rPr dirty="0" spc="235"/>
              <a:t>Future</a:t>
            </a:r>
            <a:r>
              <a:rPr dirty="0" spc="75"/>
              <a:t> </a:t>
            </a:r>
            <a:r>
              <a:rPr dirty="0" spc="65"/>
              <a:t>Scope:</a:t>
            </a:r>
            <a:r>
              <a:rPr dirty="0" spc="80"/>
              <a:t> </a:t>
            </a:r>
            <a:r>
              <a:rPr dirty="0" spc="225"/>
              <a:t>Hardware</a:t>
            </a:r>
            <a:r>
              <a:rPr dirty="0" spc="80"/>
              <a:t> </a:t>
            </a:r>
            <a:r>
              <a:rPr dirty="0" spc="240"/>
              <a:t>Deployment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537202" y="3087864"/>
            <a:ext cx="12065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90">
                <a:solidFill>
                  <a:srgbClr val="D9E1FF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83342" y="3087559"/>
            <a:ext cx="17335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60">
                <a:solidFill>
                  <a:srgbClr val="D9E1FF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57608" y="3087864"/>
            <a:ext cx="17272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65">
                <a:solidFill>
                  <a:srgbClr val="D9E1FF"/>
                </a:solidFill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25035" y="3087559"/>
            <a:ext cx="1974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25">
                <a:solidFill>
                  <a:srgbClr val="D9E1FF"/>
                </a:solidFill>
                <a:latin typeface="Verdana"/>
                <a:cs typeface="Verdana"/>
              </a:rPr>
              <a:t>4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2819" y="1559583"/>
            <a:ext cx="3375025" cy="9620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6985">
              <a:lnSpc>
                <a:spcPct val="100000"/>
              </a:lnSpc>
              <a:spcBef>
                <a:spcPts val="135"/>
              </a:spcBef>
            </a:pPr>
            <a:r>
              <a:rPr dirty="0" sz="1650" spc="100">
                <a:solidFill>
                  <a:srgbClr val="D9E1FF"/>
                </a:solidFill>
                <a:latin typeface="Verdana"/>
                <a:cs typeface="Verdana"/>
              </a:rPr>
              <a:t>Current</a:t>
            </a:r>
            <a:endParaRPr sz="1650">
              <a:latin typeface="Verdana"/>
              <a:cs typeface="Verdana"/>
            </a:endParaRPr>
          </a:p>
          <a:p>
            <a:pPr algn="ctr" marL="12700" marR="5080">
              <a:lnSpc>
                <a:spcPct val="138400"/>
              </a:lnSpc>
              <a:spcBef>
                <a:spcPts val="700"/>
              </a:spcBef>
            </a:pP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Software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prototype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on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laptop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with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dataset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input</a:t>
            </a:r>
            <a:r>
              <a:rPr dirty="0" sz="1400" spc="6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and</a:t>
            </a:r>
            <a:r>
              <a:rPr dirty="0" sz="1400" spc="6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Streamlit</a:t>
            </a:r>
            <a:r>
              <a:rPr dirty="0" sz="1400" spc="6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5">
                <a:solidFill>
                  <a:srgbClr val="D9E1FF"/>
                </a:solidFill>
                <a:latin typeface="Microsoft Sans Serif"/>
                <a:cs typeface="Microsoft Sans Serif"/>
              </a:rPr>
              <a:t>UI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32792" y="1559583"/>
            <a:ext cx="3040380" cy="9620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10160">
              <a:lnSpc>
                <a:spcPct val="100000"/>
              </a:lnSpc>
              <a:spcBef>
                <a:spcPts val="135"/>
              </a:spcBef>
            </a:pPr>
            <a:r>
              <a:rPr dirty="0" sz="1650" spc="130">
                <a:solidFill>
                  <a:srgbClr val="D9E1FF"/>
                </a:solidFill>
                <a:latin typeface="Verdana"/>
                <a:cs typeface="Verdana"/>
              </a:rPr>
              <a:t>Phase</a:t>
            </a:r>
            <a:r>
              <a:rPr dirty="0" sz="1650" spc="50">
                <a:solidFill>
                  <a:srgbClr val="D9E1FF"/>
                </a:solidFill>
                <a:latin typeface="Verdana"/>
                <a:cs typeface="Verdana"/>
              </a:rPr>
              <a:t> </a:t>
            </a:r>
            <a:r>
              <a:rPr dirty="0" sz="1650" spc="-50">
                <a:solidFill>
                  <a:srgbClr val="D9E1FF"/>
                </a:solidFill>
                <a:latin typeface="Verdana"/>
                <a:cs typeface="Verdana"/>
              </a:rPr>
              <a:t>3</a:t>
            </a:r>
            <a:endParaRPr sz="1650">
              <a:latin typeface="Verdana"/>
              <a:cs typeface="Verdana"/>
            </a:endParaRPr>
          </a:p>
          <a:p>
            <a:pPr algn="ctr" marL="12700" marR="5080">
              <a:lnSpc>
                <a:spcPct val="138400"/>
              </a:lnSpc>
              <a:spcBef>
                <a:spcPts val="700"/>
              </a:spcBef>
            </a:pP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Connect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to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b="1">
                <a:solidFill>
                  <a:srgbClr val="D9E1FF"/>
                </a:solidFill>
                <a:latin typeface="Arial"/>
                <a:cs typeface="Arial"/>
              </a:rPr>
              <a:t>cloud</a:t>
            </a:r>
            <a:r>
              <a:rPr dirty="0" sz="1400" spc="65" b="1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D9E1FF"/>
                </a:solidFill>
                <a:latin typeface="Arial"/>
                <a:cs typeface="Arial"/>
              </a:rPr>
              <a:t>backend</a:t>
            </a:r>
            <a:r>
              <a:rPr dirty="0" sz="1400" spc="70" b="1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for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0">
                <a:solidFill>
                  <a:srgbClr val="D9E1FF"/>
                </a:solidFill>
                <a:latin typeface="Microsoft Sans Serif"/>
                <a:cs typeface="Microsoft Sans Serif"/>
              </a:rPr>
              <a:t>model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updates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and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data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logging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03297" y="3969294"/>
            <a:ext cx="3546475" cy="971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6350">
              <a:lnSpc>
                <a:spcPct val="100000"/>
              </a:lnSpc>
              <a:spcBef>
                <a:spcPts val="135"/>
              </a:spcBef>
            </a:pPr>
            <a:r>
              <a:rPr dirty="0" sz="1650" spc="130">
                <a:solidFill>
                  <a:srgbClr val="D9E1FF"/>
                </a:solidFill>
                <a:latin typeface="Verdana"/>
                <a:cs typeface="Verdana"/>
              </a:rPr>
              <a:t>Phase</a:t>
            </a:r>
            <a:r>
              <a:rPr dirty="0" sz="1650" spc="50">
                <a:solidFill>
                  <a:srgbClr val="D9E1FF"/>
                </a:solidFill>
                <a:latin typeface="Verdana"/>
                <a:cs typeface="Verdana"/>
              </a:rPr>
              <a:t> </a:t>
            </a:r>
            <a:r>
              <a:rPr dirty="0" sz="1650" spc="-50">
                <a:solidFill>
                  <a:srgbClr val="D9E1FF"/>
                </a:solidFill>
                <a:latin typeface="Verdana"/>
                <a:cs typeface="Verdana"/>
              </a:rPr>
              <a:t>2</a:t>
            </a:r>
            <a:endParaRPr sz="1650">
              <a:latin typeface="Verdana"/>
              <a:cs typeface="Verdana"/>
            </a:endParaRPr>
          </a:p>
          <a:p>
            <a:pPr algn="ctr" marL="12700" marR="5080">
              <a:lnSpc>
                <a:spcPct val="138400"/>
              </a:lnSpc>
              <a:spcBef>
                <a:spcPts val="775"/>
              </a:spcBef>
            </a:pP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Deploy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trained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model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on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b="1">
                <a:solidFill>
                  <a:srgbClr val="D9E1FF"/>
                </a:solidFill>
                <a:latin typeface="Arial"/>
                <a:cs typeface="Arial"/>
              </a:rPr>
              <a:t>Raspberry</a:t>
            </a:r>
            <a:r>
              <a:rPr dirty="0" sz="1400" spc="50" b="1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D9E1FF"/>
                </a:solidFill>
                <a:latin typeface="Arial"/>
                <a:cs typeface="Arial"/>
              </a:rPr>
              <a:t>Pi</a:t>
            </a:r>
            <a:r>
              <a:rPr dirty="0" sz="1400" spc="55" b="1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D9E1FF"/>
                </a:solidFill>
                <a:latin typeface="Microsoft Sans Serif"/>
                <a:cs typeface="Microsoft Sans Serif"/>
              </a:rPr>
              <a:t>with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Pi</a:t>
            </a:r>
            <a:r>
              <a:rPr dirty="0" sz="1400" spc="6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Camera</a:t>
            </a:r>
            <a:r>
              <a:rPr dirty="0" sz="1400" spc="6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for</a:t>
            </a:r>
            <a:r>
              <a:rPr dirty="0" sz="1400" spc="6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real-time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capture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86956" y="3969294"/>
            <a:ext cx="3484879" cy="971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4445">
              <a:lnSpc>
                <a:spcPct val="100000"/>
              </a:lnSpc>
              <a:spcBef>
                <a:spcPts val="135"/>
              </a:spcBef>
            </a:pPr>
            <a:r>
              <a:rPr dirty="0" sz="1650" spc="130">
                <a:solidFill>
                  <a:srgbClr val="D9E1FF"/>
                </a:solidFill>
                <a:latin typeface="Verdana"/>
                <a:cs typeface="Verdana"/>
              </a:rPr>
              <a:t>Phase</a:t>
            </a:r>
            <a:r>
              <a:rPr dirty="0" sz="1650" spc="50">
                <a:solidFill>
                  <a:srgbClr val="D9E1FF"/>
                </a:solidFill>
                <a:latin typeface="Verdana"/>
                <a:cs typeface="Verdana"/>
              </a:rPr>
              <a:t> </a:t>
            </a:r>
            <a:r>
              <a:rPr dirty="0" sz="1650" spc="20">
                <a:solidFill>
                  <a:srgbClr val="D9E1FF"/>
                </a:solidFill>
                <a:latin typeface="Verdana"/>
                <a:cs typeface="Verdana"/>
              </a:rPr>
              <a:t>4</a:t>
            </a:r>
            <a:endParaRPr sz="1650">
              <a:latin typeface="Verdana"/>
              <a:cs typeface="Verdana"/>
            </a:endParaRPr>
          </a:p>
          <a:p>
            <a:pPr algn="ctr" marL="12065" marR="5080">
              <a:lnSpc>
                <a:spcPct val="138400"/>
              </a:lnSpc>
              <a:spcBef>
                <a:spcPts val="775"/>
              </a:spcBef>
            </a:pP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Farmer-facing</a:t>
            </a:r>
            <a:r>
              <a:rPr dirty="0" sz="1400" spc="9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b="1">
                <a:solidFill>
                  <a:srgbClr val="D9E1FF"/>
                </a:solidFill>
                <a:latin typeface="Arial"/>
                <a:cs typeface="Arial"/>
              </a:rPr>
              <a:t>mobile</a:t>
            </a:r>
            <a:r>
              <a:rPr dirty="0" sz="1400" spc="70" b="1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D9E1FF"/>
                </a:solidFill>
                <a:latin typeface="Arial"/>
                <a:cs typeface="Arial"/>
              </a:rPr>
              <a:t>app</a:t>
            </a:r>
            <a:r>
              <a:rPr dirty="0" sz="1400" spc="70" b="1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with</a:t>
            </a:r>
            <a:r>
              <a:rPr dirty="0" sz="1400" spc="9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push</a:t>
            </a:r>
            <a:r>
              <a:rPr dirty="0" sz="1400" spc="9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alerts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and</a:t>
            </a:r>
            <a:r>
              <a:rPr dirty="0" sz="1400" spc="6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regional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disease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mapping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4854" y="5138008"/>
            <a:ext cx="9950450" cy="5778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9500"/>
              </a:lnSpc>
              <a:spcBef>
                <a:spcPts val="90"/>
              </a:spcBef>
            </a:pP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The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modular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architecture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ensures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each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phase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is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independently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deliverable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600">
                <a:solidFill>
                  <a:srgbClr val="D9E1FF"/>
                </a:solidFill>
                <a:latin typeface="Microsoft Sans Serif"/>
                <a:cs typeface="Microsoft Sans Serif"/>
              </a:rPr>
              <a:t>—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hardware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integration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requires</a:t>
            </a:r>
            <a:r>
              <a:rPr dirty="0" sz="1400" spc="8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b="1">
                <a:solidFill>
                  <a:srgbClr val="D9E1FF"/>
                </a:solidFill>
                <a:latin typeface="Arial"/>
                <a:cs typeface="Arial"/>
              </a:rPr>
              <a:t>no</a:t>
            </a:r>
            <a:r>
              <a:rPr dirty="0" sz="1400" spc="60" b="1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D9E1FF"/>
                </a:solidFill>
                <a:latin typeface="Arial"/>
                <a:cs typeface="Arial"/>
              </a:rPr>
              <a:t>changes</a:t>
            </a:r>
            <a:r>
              <a:rPr dirty="0" sz="1400" spc="65" b="1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D9E1FF"/>
                </a:solidFill>
                <a:latin typeface="Microsoft Sans Serif"/>
                <a:cs typeface="Microsoft Sans Serif"/>
              </a:rPr>
              <a:t>to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the</a:t>
            </a:r>
            <a:r>
              <a:rPr dirty="0" sz="1400" spc="6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core</a:t>
            </a:r>
            <a:r>
              <a:rPr dirty="0" sz="1400" spc="6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model.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1"/>
            <a:ext cx="11431270" cy="7181850"/>
          </a:xfrm>
          <a:custGeom>
            <a:avLst/>
            <a:gdLst/>
            <a:ahLst/>
            <a:cxnLst/>
            <a:rect l="l" t="t" r="r" b="b"/>
            <a:pathLst>
              <a:path w="11431270" h="7181850">
                <a:moveTo>
                  <a:pt x="11431073" y="7181849"/>
                </a:moveTo>
                <a:lnTo>
                  <a:pt x="0" y="7181849"/>
                </a:lnTo>
                <a:lnTo>
                  <a:pt x="0" y="0"/>
                </a:lnTo>
                <a:lnTo>
                  <a:pt x="11431073" y="0"/>
                </a:lnTo>
                <a:lnTo>
                  <a:pt x="11431073" y="7181849"/>
                </a:lnTo>
                <a:close/>
              </a:path>
            </a:pathLst>
          </a:custGeom>
          <a:solidFill>
            <a:srgbClr val="0C09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5754" y="8953"/>
            <a:ext cx="4174245" cy="718242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37793" y="2390775"/>
            <a:ext cx="2838450" cy="2343150"/>
            <a:chOff x="637793" y="2390775"/>
            <a:chExt cx="2838450" cy="2343150"/>
          </a:xfrm>
        </p:grpSpPr>
        <p:sp>
          <p:nvSpPr>
            <p:cNvPr id="5" name="object 5"/>
            <p:cNvSpPr/>
            <p:nvPr/>
          </p:nvSpPr>
          <p:spPr>
            <a:xfrm>
              <a:off x="637793" y="2390775"/>
              <a:ext cx="2838450" cy="2343150"/>
            </a:xfrm>
            <a:custGeom>
              <a:avLst/>
              <a:gdLst/>
              <a:ahLst/>
              <a:cxnLst/>
              <a:rect l="l" t="t" r="r" b="b"/>
              <a:pathLst>
                <a:path w="2838450" h="2343150">
                  <a:moveTo>
                    <a:pt x="2821597" y="2342521"/>
                  </a:moveTo>
                  <a:lnTo>
                    <a:pt x="16848" y="2342521"/>
                  </a:lnTo>
                  <a:lnTo>
                    <a:pt x="11266" y="2340254"/>
                  </a:lnTo>
                  <a:lnTo>
                    <a:pt x="0" y="2323400"/>
                  </a:lnTo>
                  <a:lnTo>
                    <a:pt x="0" y="19748"/>
                  </a:lnTo>
                  <a:lnTo>
                    <a:pt x="2818701" y="0"/>
                  </a:lnTo>
                  <a:lnTo>
                    <a:pt x="2821597" y="570"/>
                  </a:lnTo>
                  <a:lnTo>
                    <a:pt x="2838450" y="2323400"/>
                  </a:lnTo>
                  <a:lnTo>
                    <a:pt x="2837878" y="2326310"/>
                  </a:lnTo>
                  <a:lnTo>
                    <a:pt x="2821597" y="2342521"/>
                  </a:lnTo>
                  <a:close/>
                </a:path>
              </a:pathLst>
            </a:custGeom>
            <a:solidFill>
              <a:srgbClr val="2A2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18578" y="2572049"/>
              <a:ext cx="544195" cy="551815"/>
            </a:xfrm>
            <a:custGeom>
              <a:avLst/>
              <a:gdLst/>
              <a:ahLst/>
              <a:cxnLst/>
              <a:rect l="l" t="t" r="r" b="b"/>
              <a:pathLst>
                <a:path w="544194" h="551814">
                  <a:moveTo>
                    <a:pt x="291830" y="1269"/>
                  </a:moveTo>
                  <a:lnTo>
                    <a:pt x="251839" y="1269"/>
                  </a:lnTo>
                  <a:lnTo>
                    <a:pt x="258497" y="0"/>
                  </a:lnTo>
                  <a:lnTo>
                    <a:pt x="285173" y="0"/>
                  </a:lnTo>
                  <a:lnTo>
                    <a:pt x="291830" y="1269"/>
                  </a:lnTo>
                  <a:close/>
                </a:path>
                <a:path w="544194" h="551814">
                  <a:moveTo>
                    <a:pt x="305113" y="2539"/>
                  </a:moveTo>
                  <a:lnTo>
                    <a:pt x="238557" y="2539"/>
                  </a:lnTo>
                  <a:lnTo>
                    <a:pt x="245190" y="1269"/>
                  </a:lnTo>
                  <a:lnTo>
                    <a:pt x="298479" y="1269"/>
                  </a:lnTo>
                  <a:lnTo>
                    <a:pt x="305113" y="2539"/>
                  </a:lnTo>
                  <a:close/>
                </a:path>
                <a:path w="544194" h="551814">
                  <a:moveTo>
                    <a:pt x="303445" y="551487"/>
                  </a:moveTo>
                  <a:lnTo>
                    <a:pt x="240224" y="551487"/>
                  </a:lnTo>
                  <a:lnTo>
                    <a:pt x="199337" y="543559"/>
                  </a:lnTo>
                  <a:lnTo>
                    <a:pt x="192928" y="541019"/>
                  </a:lnTo>
                  <a:lnTo>
                    <a:pt x="186565" y="539749"/>
                  </a:lnTo>
                  <a:lnTo>
                    <a:pt x="161677" y="529589"/>
                  </a:lnTo>
                  <a:lnTo>
                    <a:pt x="149617" y="524509"/>
                  </a:lnTo>
                  <a:lnTo>
                    <a:pt x="143691" y="520699"/>
                  </a:lnTo>
                  <a:lnTo>
                    <a:pt x="137846" y="518159"/>
                  </a:lnTo>
                  <a:lnTo>
                    <a:pt x="126405" y="510539"/>
                  </a:lnTo>
                  <a:lnTo>
                    <a:pt x="120811" y="506729"/>
                  </a:lnTo>
                  <a:lnTo>
                    <a:pt x="115308" y="504189"/>
                  </a:lnTo>
                  <a:lnTo>
                    <a:pt x="109903" y="499109"/>
                  </a:lnTo>
                  <a:lnTo>
                    <a:pt x="104595" y="495299"/>
                  </a:lnTo>
                  <a:lnTo>
                    <a:pt x="99385" y="491489"/>
                  </a:lnTo>
                  <a:lnTo>
                    <a:pt x="94278" y="487679"/>
                  </a:lnTo>
                  <a:lnTo>
                    <a:pt x="89281" y="482599"/>
                  </a:lnTo>
                  <a:lnTo>
                    <a:pt x="84394" y="478789"/>
                  </a:lnTo>
                  <a:lnTo>
                    <a:pt x="57534" y="448309"/>
                  </a:lnTo>
                  <a:lnTo>
                    <a:pt x="45812" y="431799"/>
                  </a:lnTo>
                  <a:lnTo>
                    <a:pt x="42172" y="426719"/>
                  </a:lnTo>
                  <a:lnTo>
                    <a:pt x="38673" y="421639"/>
                  </a:lnTo>
                  <a:lnTo>
                    <a:pt x="35314" y="415289"/>
                  </a:lnTo>
                  <a:lnTo>
                    <a:pt x="32095" y="408939"/>
                  </a:lnTo>
                  <a:lnTo>
                    <a:pt x="29022" y="403859"/>
                  </a:lnTo>
                  <a:lnTo>
                    <a:pt x="26097" y="397509"/>
                  </a:lnTo>
                  <a:lnTo>
                    <a:pt x="23320" y="391159"/>
                  </a:lnTo>
                  <a:lnTo>
                    <a:pt x="20690" y="384809"/>
                  </a:lnTo>
                  <a:lnTo>
                    <a:pt x="18211" y="379729"/>
                  </a:lnTo>
                  <a:lnTo>
                    <a:pt x="6604" y="340359"/>
                  </a:lnTo>
                  <a:lnTo>
                    <a:pt x="5220" y="334009"/>
                  </a:lnTo>
                  <a:lnTo>
                    <a:pt x="326" y="294639"/>
                  </a:lnTo>
                  <a:lnTo>
                    <a:pt x="0" y="288289"/>
                  </a:lnTo>
                  <a:lnTo>
                    <a:pt x="0" y="265429"/>
                  </a:lnTo>
                  <a:lnTo>
                    <a:pt x="4001" y="224789"/>
                  </a:lnTo>
                  <a:lnTo>
                    <a:pt x="13717" y="186689"/>
                  </a:lnTo>
                  <a:lnTo>
                    <a:pt x="29022" y="149859"/>
                  </a:lnTo>
                  <a:lnTo>
                    <a:pt x="32095" y="143509"/>
                  </a:lnTo>
                  <a:lnTo>
                    <a:pt x="35314" y="138429"/>
                  </a:lnTo>
                  <a:lnTo>
                    <a:pt x="38673" y="132079"/>
                  </a:lnTo>
                  <a:lnTo>
                    <a:pt x="42172" y="125729"/>
                  </a:lnTo>
                  <a:lnTo>
                    <a:pt x="45812" y="120649"/>
                  </a:lnTo>
                  <a:lnTo>
                    <a:pt x="49588" y="115569"/>
                  </a:lnTo>
                  <a:lnTo>
                    <a:pt x="53496" y="110489"/>
                  </a:lnTo>
                  <a:lnTo>
                    <a:pt x="57534" y="104139"/>
                  </a:lnTo>
                  <a:lnTo>
                    <a:pt x="79618" y="80009"/>
                  </a:lnTo>
                  <a:lnTo>
                    <a:pt x="84394" y="74929"/>
                  </a:lnTo>
                  <a:lnTo>
                    <a:pt x="89281" y="69849"/>
                  </a:lnTo>
                  <a:lnTo>
                    <a:pt x="94278" y="66039"/>
                  </a:lnTo>
                  <a:lnTo>
                    <a:pt x="99385" y="62229"/>
                  </a:lnTo>
                  <a:lnTo>
                    <a:pt x="104595" y="57149"/>
                  </a:lnTo>
                  <a:lnTo>
                    <a:pt x="137846" y="35559"/>
                  </a:lnTo>
                  <a:lnTo>
                    <a:pt x="143691" y="31749"/>
                  </a:lnTo>
                  <a:lnTo>
                    <a:pt x="155612" y="26669"/>
                  </a:lnTo>
                  <a:lnTo>
                    <a:pt x="161677" y="22859"/>
                  </a:lnTo>
                  <a:lnTo>
                    <a:pt x="180258" y="15239"/>
                  </a:lnTo>
                  <a:lnTo>
                    <a:pt x="186565" y="13969"/>
                  </a:lnTo>
                  <a:lnTo>
                    <a:pt x="192928" y="11429"/>
                  </a:lnTo>
                  <a:lnTo>
                    <a:pt x="199337" y="10159"/>
                  </a:lnTo>
                  <a:lnTo>
                    <a:pt x="205786" y="7619"/>
                  </a:lnTo>
                  <a:lnTo>
                    <a:pt x="231948" y="2539"/>
                  </a:lnTo>
                  <a:lnTo>
                    <a:pt x="311723" y="2539"/>
                  </a:lnTo>
                  <a:lnTo>
                    <a:pt x="337885" y="7619"/>
                  </a:lnTo>
                  <a:lnTo>
                    <a:pt x="344335" y="10159"/>
                  </a:lnTo>
                  <a:lnTo>
                    <a:pt x="350745" y="11429"/>
                  </a:lnTo>
                  <a:lnTo>
                    <a:pt x="357107" y="13969"/>
                  </a:lnTo>
                  <a:lnTo>
                    <a:pt x="363414" y="15239"/>
                  </a:lnTo>
                  <a:lnTo>
                    <a:pt x="381996" y="22859"/>
                  </a:lnTo>
                  <a:lnTo>
                    <a:pt x="388060" y="26669"/>
                  </a:lnTo>
                  <a:lnTo>
                    <a:pt x="399980" y="31749"/>
                  </a:lnTo>
                  <a:lnTo>
                    <a:pt x="405825" y="35559"/>
                  </a:lnTo>
                  <a:lnTo>
                    <a:pt x="439078" y="57149"/>
                  </a:lnTo>
                  <a:lnTo>
                    <a:pt x="444288" y="62229"/>
                  </a:lnTo>
                  <a:lnTo>
                    <a:pt x="449395" y="66039"/>
                  </a:lnTo>
                  <a:lnTo>
                    <a:pt x="454392" y="69849"/>
                  </a:lnTo>
                  <a:lnTo>
                    <a:pt x="459278" y="74929"/>
                  </a:lnTo>
                  <a:lnTo>
                    <a:pt x="464048" y="80009"/>
                  </a:lnTo>
                  <a:lnTo>
                    <a:pt x="468710" y="83819"/>
                  </a:lnTo>
                  <a:lnTo>
                    <a:pt x="490178" y="110489"/>
                  </a:lnTo>
                  <a:lnTo>
                    <a:pt x="494087" y="115569"/>
                  </a:lnTo>
                  <a:lnTo>
                    <a:pt x="497864" y="120649"/>
                  </a:lnTo>
                  <a:lnTo>
                    <a:pt x="501503" y="125729"/>
                  </a:lnTo>
                  <a:lnTo>
                    <a:pt x="505000" y="132079"/>
                  </a:lnTo>
                  <a:lnTo>
                    <a:pt x="508357" y="138429"/>
                  </a:lnTo>
                  <a:lnTo>
                    <a:pt x="511573" y="143509"/>
                  </a:lnTo>
                  <a:lnTo>
                    <a:pt x="514647" y="149859"/>
                  </a:lnTo>
                  <a:lnTo>
                    <a:pt x="517573" y="154939"/>
                  </a:lnTo>
                  <a:lnTo>
                    <a:pt x="520351" y="161289"/>
                  </a:lnTo>
                  <a:lnTo>
                    <a:pt x="533830" y="199389"/>
                  </a:lnTo>
                  <a:lnTo>
                    <a:pt x="541630" y="238759"/>
                  </a:lnTo>
                  <a:lnTo>
                    <a:pt x="543673" y="265429"/>
                  </a:lnTo>
                  <a:lnTo>
                    <a:pt x="543673" y="288289"/>
                  </a:lnTo>
                  <a:lnTo>
                    <a:pt x="539671" y="327659"/>
                  </a:lnTo>
                  <a:lnTo>
                    <a:pt x="537067" y="340359"/>
                  </a:lnTo>
                  <a:lnTo>
                    <a:pt x="535528" y="347979"/>
                  </a:lnTo>
                  <a:lnTo>
                    <a:pt x="522980" y="384809"/>
                  </a:lnTo>
                  <a:lnTo>
                    <a:pt x="520351" y="391159"/>
                  </a:lnTo>
                  <a:lnTo>
                    <a:pt x="517573" y="397509"/>
                  </a:lnTo>
                  <a:lnTo>
                    <a:pt x="514647" y="403859"/>
                  </a:lnTo>
                  <a:lnTo>
                    <a:pt x="511573" y="408939"/>
                  </a:lnTo>
                  <a:lnTo>
                    <a:pt x="508357" y="415289"/>
                  </a:lnTo>
                  <a:lnTo>
                    <a:pt x="505000" y="421639"/>
                  </a:lnTo>
                  <a:lnTo>
                    <a:pt x="501503" y="426719"/>
                  </a:lnTo>
                  <a:lnTo>
                    <a:pt x="497864" y="431799"/>
                  </a:lnTo>
                  <a:lnTo>
                    <a:pt x="494087" y="438149"/>
                  </a:lnTo>
                  <a:lnTo>
                    <a:pt x="468710" y="468629"/>
                  </a:lnTo>
                  <a:lnTo>
                    <a:pt x="454392" y="482599"/>
                  </a:lnTo>
                  <a:lnTo>
                    <a:pt x="449395" y="487679"/>
                  </a:lnTo>
                  <a:lnTo>
                    <a:pt x="444288" y="491489"/>
                  </a:lnTo>
                  <a:lnTo>
                    <a:pt x="439078" y="495299"/>
                  </a:lnTo>
                  <a:lnTo>
                    <a:pt x="433770" y="499109"/>
                  </a:lnTo>
                  <a:lnTo>
                    <a:pt x="428364" y="504189"/>
                  </a:lnTo>
                  <a:lnTo>
                    <a:pt x="422862" y="506729"/>
                  </a:lnTo>
                  <a:lnTo>
                    <a:pt x="417267" y="510539"/>
                  </a:lnTo>
                  <a:lnTo>
                    <a:pt x="405825" y="518159"/>
                  </a:lnTo>
                  <a:lnTo>
                    <a:pt x="399980" y="520699"/>
                  </a:lnTo>
                  <a:lnTo>
                    <a:pt x="394055" y="524509"/>
                  </a:lnTo>
                  <a:lnTo>
                    <a:pt x="381996" y="529589"/>
                  </a:lnTo>
                  <a:lnTo>
                    <a:pt x="357107" y="539749"/>
                  </a:lnTo>
                  <a:lnTo>
                    <a:pt x="350745" y="541019"/>
                  </a:lnTo>
                  <a:lnTo>
                    <a:pt x="344335" y="543559"/>
                  </a:lnTo>
                  <a:lnTo>
                    <a:pt x="303445" y="551487"/>
                  </a:lnTo>
                  <a:close/>
                </a:path>
              </a:pathLst>
            </a:custGeom>
            <a:solidFill>
              <a:srgbClr val="8061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1076" y="2718068"/>
              <a:ext cx="162904" cy="225777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3666743" y="2390775"/>
            <a:ext cx="2838450" cy="2343150"/>
            <a:chOff x="3666743" y="2390775"/>
            <a:chExt cx="2838450" cy="2343150"/>
          </a:xfrm>
        </p:grpSpPr>
        <p:sp>
          <p:nvSpPr>
            <p:cNvPr id="9" name="object 9"/>
            <p:cNvSpPr/>
            <p:nvPr/>
          </p:nvSpPr>
          <p:spPr>
            <a:xfrm>
              <a:off x="3666743" y="2390775"/>
              <a:ext cx="2838450" cy="2343150"/>
            </a:xfrm>
            <a:custGeom>
              <a:avLst/>
              <a:gdLst/>
              <a:ahLst/>
              <a:cxnLst/>
              <a:rect l="l" t="t" r="r" b="b"/>
              <a:pathLst>
                <a:path w="2838450" h="2343150">
                  <a:moveTo>
                    <a:pt x="2821596" y="2342521"/>
                  </a:moveTo>
                  <a:lnTo>
                    <a:pt x="16853" y="2342521"/>
                  </a:lnTo>
                  <a:lnTo>
                    <a:pt x="11264" y="2340254"/>
                  </a:lnTo>
                  <a:lnTo>
                    <a:pt x="0" y="2323400"/>
                  </a:lnTo>
                  <a:lnTo>
                    <a:pt x="0" y="19748"/>
                  </a:lnTo>
                  <a:lnTo>
                    <a:pt x="2818700" y="0"/>
                  </a:lnTo>
                  <a:lnTo>
                    <a:pt x="2821596" y="570"/>
                  </a:lnTo>
                  <a:lnTo>
                    <a:pt x="2838450" y="2323400"/>
                  </a:lnTo>
                  <a:lnTo>
                    <a:pt x="2837866" y="2326310"/>
                  </a:lnTo>
                  <a:lnTo>
                    <a:pt x="2821596" y="2342521"/>
                  </a:lnTo>
                  <a:close/>
                </a:path>
              </a:pathLst>
            </a:custGeom>
            <a:solidFill>
              <a:srgbClr val="2A2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847528" y="2572049"/>
              <a:ext cx="544195" cy="551815"/>
            </a:xfrm>
            <a:custGeom>
              <a:avLst/>
              <a:gdLst/>
              <a:ahLst/>
              <a:cxnLst/>
              <a:rect l="l" t="t" r="r" b="b"/>
              <a:pathLst>
                <a:path w="544195" h="551814">
                  <a:moveTo>
                    <a:pt x="291828" y="1269"/>
                  </a:moveTo>
                  <a:lnTo>
                    <a:pt x="251843" y="1269"/>
                  </a:lnTo>
                  <a:lnTo>
                    <a:pt x="258500" y="0"/>
                  </a:lnTo>
                  <a:lnTo>
                    <a:pt x="285172" y="0"/>
                  </a:lnTo>
                  <a:lnTo>
                    <a:pt x="291828" y="1269"/>
                  </a:lnTo>
                  <a:close/>
                </a:path>
                <a:path w="544195" h="551814">
                  <a:moveTo>
                    <a:pt x="305115" y="2539"/>
                  </a:moveTo>
                  <a:lnTo>
                    <a:pt x="238556" y="2539"/>
                  </a:lnTo>
                  <a:lnTo>
                    <a:pt x="245192" y="1269"/>
                  </a:lnTo>
                  <a:lnTo>
                    <a:pt x="298479" y="1269"/>
                  </a:lnTo>
                  <a:lnTo>
                    <a:pt x="305115" y="2539"/>
                  </a:lnTo>
                  <a:close/>
                </a:path>
                <a:path w="544195" h="551814">
                  <a:moveTo>
                    <a:pt x="303445" y="551487"/>
                  </a:moveTo>
                  <a:lnTo>
                    <a:pt x="240226" y="551487"/>
                  </a:lnTo>
                  <a:lnTo>
                    <a:pt x="199333" y="543559"/>
                  </a:lnTo>
                  <a:lnTo>
                    <a:pt x="192924" y="541019"/>
                  </a:lnTo>
                  <a:lnTo>
                    <a:pt x="186562" y="539749"/>
                  </a:lnTo>
                  <a:lnTo>
                    <a:pt x="161671" y="529589"/>
                  </a:lnTo>
                  <a:lnTo>
                    <a:pt x="149615" y="524509"/>
                  </a:lnTo>
                  <a:lnTo>
                    <a:pt x="143696" y="520699"/>
                  </a:lnTo>
                  <a:lnTo>
                    <a:pt x="137851" y="518159"/>
                  </a:lnTo>
                  <a:lnTo>
                    <a:pt x="126409" y="510539"/>
                  </a:lnTo>
                  <a:lnTo>
                    <a:pt x="120816" y="506729"/>
                  </a:lnTo>
                  <a:lnTo>
                    <a:pt x="115313" y="504189"/>
                  </a:lnTo>
                  <a:lnTo>
                    <a:pt x="109906" y="499109"/>
                  </a:lnTo>
                  <a:lnTo>
                    <a:pt x="104597" y="495299"/>
                  </a:lnTo>
                  <a:lnTo>
                    <a:pt x="99387" y="491489"/>
                  </a:lnTo>
                  <a:lnTo>
                    <a:pt x="94279" y="487679"/>
                  </a:lnTo>
                  <a:lnTo>
                    <a:pt x="89281" y="482599"/>
                  </a:lnTo>
                  <a:lnTo>
                    <a:pt x="84395" y="478789"/>
                  </a:lnTo>
                  <a:lnTo>
                    <a:pt x="57535" y="448309"/>
                  </a:lnTo>
                  <a:lnTo>
                    <a:pt x="45807" y="431799"/>
                  </a:lnTo>
                  <a:lnTo>
                    <a:pt x="42168" y="426719"/>
                  </a:lnTo>
                  <a:lnTo>
                    <a:pt x="38672" y="421639"/>
                  </a:lnTo>
                  <a:lnTo>
                    <a:pt x="35316" y="415289"/>
                  </a:lnTo>
                  <a:lnTo>
                    <a:pt x="32100" y="408939"/>
                  </a:lnTo>
                  <a:lnTo>
                    <a:pt x="29025" y="403859"/>
                  </a:lnTo>
                  <a:lnTo>
                    <a:pt x="26099" y="397509"/>
                  </a:lnTo>
                  <a:lnTo>
                    <a:pt x="23321" y="391159"/>
                  </a:lnTo>
                  <a:lnTo>
                    <a:pt x="20690" y="384809"/>
                  </a:lnTo>
                  <a:lnTo>
                    <a:pt x="18211" y="379729"/>
                  </a:lnTo>
                  <a:lnTo>
                    <a:pt x="6605" y="340359"/>
                  </a:lnTo>
                  <a:lnTo>
                    <a:pt x="5227" y="334009"/>
                  </a:lnTo>
                  <a:lnTo>
                    <a:pt x="325" y="294639"/>
                  </a:lnTo>
                  <a:lnTo>
                    <a:pt x="0" y="288289"/>
                  </a:lnTo>
                  <a:lnTo>
                    <a:pt x="0" y="265429"/>
                  </a:lnTo>
                  <a:lnTo>
                    <a:pt x="4002" y="224789"/>
                  </a:lnTo>
                  <a:lnTo>
                    <a:pt x="13714" y="186689"/>
                  </a:lnTo>
                  <a:lnTo>
                    <a:pt x="29025" y="149859"/>
                  </a:lnTo>
                  <a:lnTo>
                    <a:pt x="32100" y="143509"/>
                  </a:lnTo>
                  <a:lnTo>
                    <a:pt x="35316" y="138429"/>
                  </a:lnTo>
                  <a:lnTo>
                    <a:pt x="38672" y="132079"/>
                  </a:lnTo>
                  <a:lnTo>
                    <a:pt x="42168" y="125729"/>
                  </a:lnTo>
                  <a:lnTo>
                    <a:pt x="45807" y="120649"/>
                  </a:lnTo>
                  <a:lnTo>
                    <a:pt x="49585" y="115569"/>
                  </a:lnTo>
                  <a:lnTo>
                    <a:pt x="53494" y="110489"/>
                  </a:lnTo>
                  <a:lnTo>
                    <a:pt x="57535" y="104139"/>
                  </a:lnTo>
                  <a:lnTo>
                    <a:pt x="79624" y="80009"/>
                  </a:lnTo>
                  <a:lnTo>
                    <a:pt x="84395" y="74929"/>
                  </a:lnTo>
                  <a:lnTo>
                    <a:pt x="89281" y="69849"/>
                  </a:lnTo>
                  <a:lnTo>
                    <a:pt x="94279" y="66039"/>
                  </a:lnTo>
                  <a:lnTo>
                    <a:pt x="99387" y="62229"/>
                  </a:lnTo>
                  <a:lnTo>
                    <a:pt x="104597" y="57149"/>
                  </a:lnTo>
                  <a:lnTo>
                    <a:pt x="137851" y="35559"/>
                  </a:lnTo>
                  <a:lnTo>
                    <a:pt x="143696" y="31749"/>
                  </a:lnTo>
                  <a:lnTo>
                    <a:pt x="155607" y="26669"/>
                  </a:lnTo>
                  <a:lnTo>
                    <a:pt x="161671" y="22859"/>
                  </a:lnTo>
                  <a:lnTo>
                    <a:pt x="180256" y="15239"/>
                  </a:lnTo>
                  <a:lnTo>
                    <a:pt x="186562" y="13969"/>
                  </a:lnTo>
                  <a:lnTo>
                    <a:pt x="192924" y="11429"/>
                  </a:lnTo>
                  <a:lnTo>
                    <a:pt x="199333" y="10159"/>
                  </a:lnTo>
                  <a:lnTo>
                    <a:pt x="205783" y="7619"/>
                  </a:lnTo>
                  <a:lnTo>
                    <a:pt x="231946" y="2539"/>
                  </a:lnTo>
                  <a:lnTo>
                    <a:pt x="311726" y="2539"/>
                  </a:lnTo>
                  <a:lnTo>
                    <a:pt x="337889" y="7619"/>
                  </a:lnTo>
                  <a:lnTo>
                    <a:pt x="344339" y="10159"/>
                  </a:lnTo>
                  <a:lnTo>
                    <a:pt x="350749" y="11429"/>
                  </a:lnTo>
                  <a:lnTo>
                    <a:pt x="357111" y="13969"/>
                  </a:lnTo>
                  <a:lnTo>
                    <a:pt x="363417" y="15239"/>
                  </a:lnTo>
                  <a:lnTo>
                    <a:pt x="382000" y="22859"/>
                  </a:lnTo>
                  <a:lnTo>
                    <a:pt x="388064" y="26669"/>
                  </a:lnTo>
                  <a:lnTo>
                    <a:pt x="399977" y="31749"/>
                  </a:lnTo>
                  <a:lnTo>
                    <a:pt x="405822" y="35559"/>
                  </a:lnTo>
                  <a:lnTo>
                    <a:pt x="439076" y="57149"/>
                  </a:lnTo>
                  <a:lnTo>
                    <a:pt x="444286" y="62229"/>
                  </a:lnTo>
                  <a:lnTo>
                    <a:pt x="449393" y="66039"/>
                  </a:lnTo>
                  <a:lnTo>
                    <a:pt x="454391" y="69849"/>
                  </a:lnTo>
                  <a:lnTo>
                    <a:pt x="459278" y="74929"/>
                  </a:lnTo>
                  <a:lnTo>
                    <a:pt x="464048" y="80009"/>
                  </a:lnTo>
                  <a:lnTo>
                    <a:pt x="468710" y="83819"/>
                  </a:lnTo>
                  <a:lnTo>
                    <a:pt x="490178" y="110489"/>
                  </a:lnTo>
                  <a:lnTo>
                    <a:pt x="494087" y="115569"/>
                  </a:lnTo>
                  <a:lnTo>
                    <a:pt x="497864" y="120649"/>
                  </a:lnTo>
                  <a:lnTo>
                    <a:pt x="501503" y="125729"/>
                  </a:lnTo>
                  <a:lnTo>
                    <a:pt x="505000" y="132079"/>
                  </a:lnTo>
                  <a:lnTo>
                    <a:pt x="508357" y="138429"/>
                  </a:lnTo>
                  <a:lnTo>
                    <a:pt x="511574" y="143509"/>
                  </a:lnTo>
                  <a:lnTo>
                    <a:pt x="514647" y="149859"/>
                  </a:lnTo>
                  <a:lnTo>
                    <a:pt x="517573" y="154939"/>
                  </a:lnTo>
                  <a:lnTo>
                    <a:pt x="520351" y="161289"/>
                  </a:lnTo>
                  <a:lnTo>
                    <a:pt x="533829" y="199389"/>
                  </a:lnTo>
                  <a:lnTo>
                    <a:pt x="541630" y="238759"/>
                  </a:lnTo>
                  <a:lnTo>
                    <a:pt x="543673" y="265429"/>
                  </a:lnTo>
                  <a:lnTo>
                    <a:pt x="543673" y="288289"/>
                  </a:lnTo>
                  <a:lnTo>
                    <a:pt x="539671" y="327659"/>
                  </a:lnTo>
                  <a:lnTo>
                    <a:pt x="537067" y="340359"/>
                  </a:lnTo>
                  <a:lnTo>
                    <a:pt x="535528" y="347979"/>
                  </a:lnTo>
                  <a:lnTo>
                    <a:pt x="522980" y="384809"/>
                  </a:lnTo>
                  <a:lnTo>
                    <a:pt x="520351" y="391159"/>
                  </a:lnTo>
                  <a:lnTo>
                    <a:pt x="517573" y="397509"/>
                  </a:lnTo>
                  <a:lnTo>
                    <a:pt x="514647" y="403859"/>
                  </a:lnTo>
                  <a:lnTo>
                    <a:pt x="511574" y="408939"/>
                  </a:lnTo>
                  <a:lnTo>
                    <a:pt x="508357" y="415289"/>
                  </a:lnTo>
                  <a:lnTo>
                    <a:pt x="505000" y="421639"/>
                  </a:lnTo>
                  <a:lnTo>
                    <a:pt x="501503" y="426719"/>
                  </a:lnTo>
                  <a:lnTo>
                    <a:pt x="497864" y="431799"/>
                  </a:lnTo>
                  <a:lnTo>
                    <a:pt x="494087" y="438149"/>
                  </a:lnTo>
                  <a:lnTo>
                    <a:pt x="468710" y="468629"/>
                  </a:lnTo>
                  <a:lnTo>
                    <a:pt x="454391" y="482599"/>
                  </a:lnTo>
                  <a:lnTo>
                    <a:pt x="449393" y="487679"/>
                  </a:lnTo>
                  <a:lnTo>
                    <a:pt x="444286" y="491489"/>
                  </a:lnTo>
                  <a:lnTo>
                    <a:pt x="439076" y="495299"/>
                  </a:lnTo>
                  <a:lnTo>
                    <a:pt x="433767" y="499109"/>
                  </a:lnTo>
                  <a:lnTo>
                    <a:pt x="428360" y="504189"/>
                  </a:lnTo>
                  <a:lnTo>
                    <a:pt x="422857" y="506729"/>
                  </a:lnTo>
                  <a:lnTo>
                    <a:pt x="417263" y="510539"/>
                  </a:lnTo>
                  <a:lnTo>
                    <a:pt x="405822" y="518159"/>
                  </a:lnTo>
                  <a:lnTo>
                    <a:pt x="399977" y="520699"/>
                  </a:lnTo>
                  <a:lnTo>
                    <a:pt x="394056" y="524509"/>
                  </a:lnTo>
                  <a:lnTo>
                    <a:pt x="382000" y="529589"/>
                  </a:lnTo>
                  <a:lnTo>
                    <a:pt x="357111" y="539749"/>
                  </a:lnTo>
                  <a:lnTo>
                    <a:pt x="350749" y="541019"/>
                  </a:lnTo>
                  <a:lnTo>
                    <a:pt x="344339" y="543559"/>
                  </a:lnTo>
                  <a:lnTo>
                    <a:pt x="303445" y="551487"/>
                  </a:lnTo>
                  <a:close/>
                </a:path>
              </a:pathLst>
            </a:custGeom>
            <a:solidFill>
              <a:srgbClr val="8061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52310" y="2745582"/>
              <a:ext cx="120938" cy="200391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637794" y="4914708"/>
            <a:ext cx="5868035" cy="1762760"/>
            <a:chOff x="637794" y="4914708"/>
            <a:chExt cx="5868035" cy="1762760"/>
          </a:xfrm>
        </p:grpSpPr>
        <p:sp>
          <p:nvSpPr>
            <p:cNvPr id="13" name="object 13"/>
            <p:cNvSpPr/>
            <p:nvPr/>
          </p:nvSpPr>
          <p:spPr>
            <a:xfrm>
              <a:off x="637794" y="4914708"/>
              <a:ext cx="5868035" cy="1762760"/>
            </a:xfrm>
            <a:custGeom>
              <a:avLst/>
              <a:gdLst/>
              <a:ahLst/>
              <a:cxnLst/>
              <a:rect l="l" t="t" r="r" b="b"/>
              <a:pathLst>
                <a:path w="5868034" h="1762759">
                  <a:moveTo>
                    <a:pt x="5848409" y="1762355"/>
                  </a:moveTo>
                  <a:lnTo>
                    <a:pt x="19752" y="1762355"/>
                  </a:lnTo>
                  <a:lnTo>
                    <a:pt x="16850" y="1761774"/>
                  </a:lnTo>
                  <a:lnTo>
                    <a:pt x="0" y="1742597"/>
                  </a:lnTo>
                  <a:lnTo>
                    <a:pt x="0" y="19751"/>
                  </a:lnTo>
                  <a:lnTo>
                    <a:pt x="5848409" y="0"/>
                  </a:lnTo>
                  <a:lnTo>
                    <a:pt x="5851306" y="571"/>
                  </a:lnTo>
                  <a:lnTo>
                    <a:pt x="5867659" y="16854"/>
                  </a:lnTo>
                  <a:lnTo>
                    <a:pt x="5867659" y="1745505"/>
                  </a:lnTo>
                  <a:lnTo>
                    <a:pt x="5848409" y="1762355"/>
                  </a:lnTo>
                  <a:close/>
                </a:path>
              </a:pathLst>
            </a:custGeom>
            <a:solidFill>
              <a:srgbClr val="2A29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18578" y="5096173"/>
              <a:ext cx="544195" cy="551815"/>
            </a:xfrm>
            <a:custGeom>
              <a:avLst/>
              <a:gdLst/>
              <a:ahLst/>
              <a:cxnLst/>
              <a:rect l="l" t="t" r="r" b="b"/>
              <a:pathLst>
                <a:path w="544194" h="551814">
                  <a:moveTo>
                    <a:pt x="291830" y="1269"/>
                  </a:moveTo>
                  <a:lnTo>
                    <a:pt x="251839" y="1269"/>
                  </a:lnTo>
                  <a:lnTo>
                    <a:pt x="258497" y="0"/>
                  </a:lnTo>
                  <a:lnTo>
                    <a:pt x="285173" y="0"/>
                  </a:lnTo>
                  <a:lnTo>
                    <a:pt x="291830" y="1269"/>
                  </a:lnTo>
                  <a:close/>
                </a:path>
                <a:path w="544194" h="551814">
                  <a:moveTo>
                    <a:pt x="305113" y="2539"/>
                  </a:moveTo>
                  <a:lnTo>
                    <a:pt x="238557" y="2539"/>
                  </a:lnTo>
                  <a:lnTo>
                    <a:pt x="245190" y="1269"/>
                  </a:lnTo>
                  <a:lnTo>
                    <a:pt x="298479" y="1269"/>
                  </a:lnTo>
                  <a:lnTo>
                    <a:pt x="305113" y="2539"/>
                  </a:lnTo>
                  <a:close/>
                </a:path>
                <a:path w="544194" h="551814">
                  <a:moveTo>
                    <a:pt x="303437" y="551488"/>
                  </a:moveTo>
                  <a:lnTo>
                    <a:pt x="240232" y="551488"/>
                  </a:lnTo>
                  <a:lnTo>
                    <a:pt x="199337" y="543559"/>
                  </a:lnTo>
                  <a:lnTo>
                    <a:pt x="192928" y="541019"/>
                  </a:lnTo>
                  <a:lnTo>
                    <a:pt x="186565" y="539749"/>
                  </a:lnTo>
                  <a:lnTo>
                    <a:pt x="161677" y="529589"/>
                  </a:lnTo>
                  <a:lnTo>
                    <a:pt x="149617" y="524509"/>
                  </a:lnTo>
                  <a:lnTo>
                    <a:pt x="143691" y="520699"/>
                  </a:lnTo>
                  <a:lnTo>
                    <a:pt x="137846" y="518159"/>
                  </a:lnTo>
                  <a:lnTo>
                    <a:pt x="126405" y="510539"/>
                  </a:lnTo>
                  <a:lnTo>
                    <a:pt x="120811" y="506729"/>
                  </a:lnTo>
                  <a:lnTo>
                    <a:pt x="115308" y="504189"/>
                  </a:lnTo>
                  <a:lnTo>
                    <a:pt x="109903" y="499109"/>
                  </a:lnTo>
                  <a:lnTo>
                    <a:pt x="104595" y="495299"/>
                  </a:lnTo>
                  <a:lnTo>
                    <a:pt x="99385" y="491489"/>
                  </a:lnTo>
                  <a:lnTo>
                    <a:pt x="94278" y="487679"/>
                  </a:lnTo>
                  <a:lnTo>
                    <a:pt x="89281" y="482599"/>
                  </a:lnTo>
                  <a:lnTo>
                    <a:pt x="84394" y="478789"/>
                  </a:lnTo>
                  <a:lnTo>
                    <a:pt x="57534" y="448309"/>
                  </a:lnTo>
                  <a:lnTo>
                    <a:pt x="45812" y="431799"/>
                  </a:lnTo>
                  <a:lnTo>
                    <a:pt x="42172" y="426719"/>
                  </a:lnTo>
                  <a:lnTo>
                    <a:pt x="38673" y="421639"/>
                  </a:lnTo>
                  <a:lnTo>
                    <a:pt x="35314" y="415289"/>
                  </a:lnTo>
                  <a:lnTo>
                    <a:pt x="32095" y="408939"/>
                  </a:lnTo>
                  <a:lnTo>
                    <a:pt x="29022" y="403859"/>
                  </a:lnTo>
                  <a:lnTo>
                    <a:pt x="26097" y="397509"/>
                  </a:lnTo>
                  <a:lnTo>
                    <a:pt x="23320" y="391159"/>
                  </a:lnTo>
                  <a:lnTo>
                    <a:pt x="20690" y="384809"/>
                  </a:lnTo>
                  <a:lnTo>
                    <a:pt x="18211" y="379729"/>
                  </a:lnTo>
                  <a:lnTo>
                    <a:pt x="6604" y="340359"/>
                  </a:lnTo>
                  <a:lnTo>
                    <a:pt x="5220" y="334009"/>
                  </a:lnTo>
                  <a:lnTo>
                    <a:pt x="326" y="294639"/>
                  </a:lnTo>
                  <a:lnTo>
                    <a:pt x="0" y="288289"/>
                  </a:lnTo>
                  <a:lnTo>
                    <a:pt x="0" y="265429"/>
                  </a:lnTo>
                  <a:lnTo>
                    <a:pt x="4001" y="224789"/>
                  </a:lnTo>
                  <a:lnTo>
                    <a:pt x="13717" y="186689"/>
                  </a:lnTo>
                  <a:lnTo>
                    <a:pt x="29022" y="149859"/>
                  </a:lnTo>
                  <a:lnTo>
                    <a:pt x="32095" y="143509"/>
                  </a:lnTo>
                  <a:lnTo>
                    <a:pt x="35314" y="138429"/>
                  </a:lnTo>
                  <a:lnTo>
                    <a:pt x="38673" y="132079"/>
                  </a:lnTo>
                  <a:lnTo>
                    <a:pt x="42172" y="125729"/>
                  </a:lnTo>
                  <a:lnTo>
                    <a:pt x="45812" y="120649"/>
                  </a:lnTo>
                  <a:lnTo>
                    <a:pt x="49588" y="115569"/>
                  </a:lnTo>
                  <a:lnTo>
                    <a:pt x="53496" y="110489"/>
                  </a:lnTo>
                  <a:lnTo>
                    <a:pt x="57534" y="104139"/>
                  </a:lnTo>
                  <a:lnTo>
                    <a:pt x="79618" y="80009"/>
                  </a:lnTo>
                  <a:lnTo>
                    <a:pt x="84394" y="74929"/>
                  </a:lnTo>
                  <a:lnTo>
                    <a:pt x="89281" y="69849"/>
                  </a:lnTo>
                  <a:lnTo>
                    <a:pt x="94278" y="66039"/>
                  </a:lnTo>
                  <a:lnTo>
                    <a:pt x="99385" y="62229"/>
                  </a:lnTo>
                  <a:lnTo>
                    <a:pt x="104595" y="57149"/>
                  </a:lnTo>
                  <a:lnTo>
                    <a:pt x="137846" y="35559"/>
                  </a:lnTo>
                  <a:lnTo>
                    <a:pt x="143691" y="31749"/>
                  </a:lnTo>
                  <a:lnTo>
                    <a:pt x="155612" y="26669"/>
                  </a:lnTo>
                  <a:lnTo>
                    <a:pt x="161677" y="22859"/>
                  </a:lnTo>
                  <a:lnTo>
                    <a:pt x="180258" y="15239"/>
                  </a:lnTo>
                  <a:lnTo>
                    <a:pt x="186565" y="13969"/>
                  </a:lnTo>
                  <a:lnTo>
                    <a:pt x="192928" y="11429"/>
                  </a:lnTo>
                  <a:lnTo>
                    <a:pt x="199337" y="10159"/>
                  </a:lnTo>
                  <a:lnTo>
                    <a:pt x="205786" y="7619"/>
                  </a:lnTo>
                  <a:lnTo>
                    <a:pt x="231948" y="2539"/>
                  </a:lnTo>
                  <a:lnTo>
                    <a:pt x="311723" y="2539"/>
                  </a:lnTo>
                  <a:lnTo>
                    <a:pt x="337885" y="7619"/>
                  </a:lnTo>
                  <a:lnTo>
                    <a:pt x="344335" y="10159"/>
                  </a:lnTo>
                  <a:lnTo>
                    <a:pt x="350745" y="11429"/>
                  </a:lnTo>
                  <a:lnTo>
                    <a:pt x="357107" y="13969"/>
                  </a:lnTo>
                  <a:lnTo>
                    <a:pt x="363414" y="15239"/>
                  </a:lnTo>
                  <a:lnTo>
                    <a:pt x="381996" y="22859"/>
                  </a:lnTo>
                  <a:lnTo>
                    <a:pt x="388060" y="26669"/>
                  </a:lnTo>
                  <a:lnTo>
                    <a:pt x="399980" y="31749"/>
                  </a:lnTo>
                  <a:lnTo>
                    <a:pt x="405825" y="35559"/>
                  </a:lnTo>
                  <a:lnTo>
                    <a:pt x="439078" y="57149"/>
                  </a:lnTo>
                  <a:lnTo>
                    <a:pt x="444288" y="62229"/>
                  </a:lnTo>
                  <a:lnTo>
                    <a:pt x="449395" y="66039"/>
                  </a:lnTo>
                  <a:lnTo>
                    <a:pt x="454392" y="69849"/>
                  </a:lnTo>
                  <a:lnTo>
                    <a:pt x="459278" y="74929"/>
                  </a:lnTo>
                  <a:lnTo>
                    <a:pt x="464048" y="80009"/>
                  </a:lnTo>
                  <a:lnTo>
                    <a:pt x="468710" y="83819"/>
                  </a:lnTo>
                  <a:lnTo>
                    <a:pt x="490178" y="110489"/>
                  </a:lnTo>
                  <a:lnTo>
                    <a:pt x="494087" y="115569"/>
                  </a:lnTo>
                  <a:lnTo>
                    <a:pt x="497864" y="120649"/>
                  </a:lnTo>
                  <a:lnTo>
                    <a:pt x="501503" y="125729"/>
                  </a:lnTo>
                  <a:lnTo>
                    <a:pt x="505000" y="132079"/>
                  </a:lnTo>
                  <a:lnTo>
                    <a:pt x="508357" y="138429"/>
                  </a:lnTo>
                  <a:lnTo>
                    <a:pt x="511573" y="143509"/>
                  </a:lnTo>
                  <a:lnTo>
                    <a:pt x="514647" y="149859"/>
                  </a:lnTo>
                  <a:lnTo>
                    <a:pt x="517573" y="154939"/>
                  </a:lnTo>
                  <a:lnTo>
                    <a:pt x="520351" y="161289"/>
                  </a:lnTo>
                  <a:lnTo>
                    <a:pt x="533830" y="199389"/>
                  </a:lnTo>
                  <a:lnTo>
                    <a:pt x="541630" y="238759"/>
                  </a:lnTo>
                  <a:lnTo>
                    <a:pt x="543673" y="265429"/>
                  </a:lnTo>
                  <a:lnTo>
                    <a:pt x="543673" y="288289"/>
                  </a:lnTo>
                  <a:lnTo>
                    <a:pt x="539671" y="327659"/>
                  </a:lnTo>
                  <a:lnTo>
                    <a:pt x="537067" y="340359"/>
                  </a:lnTo>
                  <a:lnTo>
                    <a:pt x="535528" y="347979"/>
                  </a:lnTo>
                  <a:lnTo>
                    <a:pt x="522980" y="384809"/>
                  </a:lnTo>
                  <a:lnTo>
                    <a:pt x="520351" y="391159"/>
                  </a:lnTo>
                  <a:lnTo>
                    <a:pt x="517573" y="397509"/>
                  </a:lnTo>
                  <a:lnTo>
                    <a:pt x="514647" y="403859"/>
                  </a:lnTo>
                  <a:lnTo>
                    <a:pt x="511573" y="408939"/>
                  </a:lnTo>
                  <a:lnTo>
                    <a:pt x="508357" y="415289"/>
                  </a:lnTo>
                  <a:lnTo>
                    <a:pt x="505000" y="421639"/>
                  </a:lnTo>
                  <a:lnTo>
                    <a:pt x="501503" y="426719"/>
                  </a:lnTo>
                  <a:lnTo>
                    <a:pt x="497864" y="431799"/>
                  </a:lnTo>
                  <a:lnTo>
                    <a:pt x="494087" y="438149"/>
                  </a:lnTo>
                  <a:lnTo>
                    <a:pt x="468710" y="468629"/>
                  </a:lnTo>
                  <a:lnTo>
                    <a:pt x="454392" y="482599"/>
                  </a:lnTo>
                  <a:lnTo>
                    <a:pt x="449395" y="487679"/>
                  </a:lnTo>
                  <a:lnTo>
                    <a:pt x="444288" y="491489"/>
                  </a:lnTo>
                  <a:lnTo>
                    <a:pt x="439078" y="495299"/>
                  </a:lnTo>
                  <a:lnTo>
                    <a:pt x="433770" y="499109"/>
                  </a:lnTo>
                  <a:lnTo>
                    <a:pt x="428364" y="504189"/>
                  </a:lnTo>
                  <a:lnTo>
                    <a:pt x="422862" y="506729"/>
                  </a:lnTo>
                  <a:lnTo>
                    <a:pt x="417267" y="510539"/>
                  </a:lnTo>
                  <a:lnTo>
                    <a:pt x="405825" y="518159"/>
                  </a:lnTo>
                  <a:lnTo>
                    <a:pt x="399980" y="520699"/>
                  </a:lnTo>
                  <a:lnTo>
                    <a:pt x="394055" y="524509"/>
                  </a:lnTo>
                  <a:lnTo>
                    <a:pt x="381996" y="529589"/>
                  </a:lnTo>
                  <a:lnTo>
                    <a:pt x="357107" y="539749"/>
                  </a:lnTo>
                  <a:lnTo>
                    <a:pt x="350745" y="541019"/>
                  </a:lnTo>
                  <a:lnTo>
                    <a:pt x="344335" y="543559"/>
                  </a:lnTo>
                  <a:lnTo>
                    <a:pt x="303437" y="551488"/>
                  </a:lnTo>
                  <a:close/>
                </a:path>
              </a:pathLst>
            </a:custGeom>
            <a:solidFill>
              <a:srgbClr val="806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017754" y="5467047"/>
              <a:ext cx="45085" cy="26034"/>
            </a:xfrm>
            <a:custGeom>
              <a:avLst/>
              <a:gdLst/>
              <a:ahLst/>
              <a:cxnLst/>
              <a:rect l="l" t="t" r="r" b="b"/>
              <a:pathLst>
                <a:path w="45084" h="26035">
                  <a:moveTo>
                    <a:pt x="0" y="0"/>
                  </a:moveTo>
                  <a:lnTo>
                    <a:pt x="27638" y="25475"/>
                  </a:lnTo>
                  <a:lnTo>
                    <a:pt x="44752" y="25488"/>
                  </a:lnTo>
                </a:path>
              </a:pathLst>
            </a:custGeom>
            <a:ln w="1062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138990" y="5457658"/>
              <a:ext cx="34290" cy="35560"/>
            </a:xfrm>
            <a:custGeom>
              <a:avLst/>
              <a:gdLst/>
              <a:ahLst/>
              <a:cxnLst/>
              <a:rect l="l" t="t" r="r" b="b"/>
              <a:pathLst>
                <a:path w="34290" h="35560">
                  <a:moveTo>
                    <a:pt x="0" y="35476"/>
                  </a:moveTo>
                  <a:lnTo>
                    <a:pt x="32827" y="15365"/>
                  </a:lnTo>
                  <a:lnTo>
                    <a:pt x="33670" y="9954"/>
                  </a:lnTo>
                  <a:lnTo>
                    <a:pt x="33698" y="0"/>
                  </a:lnTo>
                </a:path>
              </a:pathLst>
            </a:custGeom>
            <a:ln w="1140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018464" y="5247458"/>
              <a:ext cx="26670" cy="27305"/>
            </a:xfrm>
            <a:custGeom>
              <a:avLst/>
              <a:gdLst/>
              <a:ahLst/>
              <a:cxnLst/>
              <a:rect l="l" t="t" r="r" b="b"/>
              <a:pathLst>
                <a:path w="26669" h="27304">
                  <a:moveTo>
                    <a:pt x="26298" y="0"/>
                  </a:moveTo>
                  <a:lnTo>
                    <a:pt x="22457" y="35"/>
                  </a:lnTo>
                  <a:lnTo>
                    <a:pt x="18800" y="787"/>
                  </a:lnTo>
                  <a:lnTo>
                    <a:pt x="15327" y="2243"/>
                  </a:lnTo>
                  <a:lnTo>
                    <a:pt x="11854" y="3698"/>
                  </a:lnTo>
                  <a:lnTo>
                    <a:pt x="0" y="23828"/>
                  </a:lnTo>
                  <a:lnTo>
                    <a:pt x="629" y="27185"/>
                  </a:lnTo>
                </a:path>
              </a:pathLst>
            </a:custGeom>
            <a:ln w="107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017771" y="5277839"/>
              <a:ext cx="635" cy="194310"/>
            </a:xfrm>
            <a:custGeom>
              <a:avLst/>
              <a:gdLst/>
              <a:ahLst/>
              <a:cxnLst/>
              <a:rect l="l" t="t" r="r" b="b"/>
              <a:pathLst>
                <a:path w="634" h="194310">
                  <a:moveTo>
                    <a:pt x="0" y="0"/>
                  </a:moveTo>
                  <a:lnTo>
                    <a:pt x="37" y="194067"/>
                  </a:lnTo>
                </a:path>
              </a:pathLst>
            </a:custGeom>
            <a:ln w="111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153752" y="5249367"/>
              <a:ext cx="17780" cy="25400"/>
            </a:xfrm>
            <a:custGeom>
              <a:avLst/>
              <a:gdLst/>
              <a:ahLst/>
              <a:cxnLst/>
              <a:rect l="l" t="t" r="r" b="b"/>
              <a:pathLst>
                <a:path w="17780" h="25400">
                  <a:moveTo>
                    <a:pt x="17190" y="24936"/>
                  </a:moveTo>
                  <a:lnTo>
                    <a:pt x="5227" y="1891"/>
                  </a:lnTo>
                  <a:lnTo>
                    <a:pt x="0" y="0"/>
                  </a:lnTo>
                </a:path>
              </a:pathLst>
            </a:custGeom>
            <a:ln w="113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00025">
              <a:lnSpc>
                <a:spcPct val="100000"/>
              </a:lnSpc>
              <a:spcBef>
                <a:spcPts val="125"/>
              </a:spcBef>
            </a:pPr>
            <a:r>
              <a:rPr dirty="0" spc="150"/>
              <a:t>Real-</a:t>
            </a:r>
            <a:r>
              <a:rPr dirty="0" spc="280"/>
              <a:t>World</a:t>
            </a:r>
            <a:r>
              <a:rPr dirty="0" spc="75"/>
              <a:t> </a:t>
            </a:r>
            <a:r>
              <a:rPr dirty="0" spc="190"/>
              <a:t>Impact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24874" y="1268486"/>
            <a:ext cx="5873115" cy="880744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 indent="-635">
              <a:lnSpc>
                <a:spcPct val="133700"/>
              </a:lnSpc>
              <a:spcBef>
                <a:spcPts val="85"/>
              </a:spcBef>
            </a:pP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Earlydisease</a:t>
            </a:r>
            <a:r>
              <a:rPr dirty="0" sz="1400" spc="12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detection</a:t>
            </a:r>
            <a:r>
              <a:rPr dirty="0" sz="1400" spc="13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canprevent</a:t>
            </a:r>
            <a:r>
              <a:rPr dirty="0" sz="1400" b="1">
                <a:solidFill>
                  <a:srgbClr val="D9E1FF"/>
                </a:solidFill>
                <a:latin typeface="Arial"/>
                <a:cs typeface="Arial"/>
              </a:rPr>
              <a:t>significantcrop</a:t>
            </a:r>
            <a:r>
              <a:rPr dirty="0" sz="1400" spc="110" b="1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D9E1FF"/>
                </a:solidFill>
                <a:latin typeface="Arial"/>
                <a:cs typeface="Arial"/>
              </a:rPr>
              <a:t>losses</a:t>
            </a:r>
            <a:r>
              <a:rPr dirty="0" sz="1400" spc="105" b="1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and</a:t>
            </a:r>
            <a:r>
              <a:rPr dirty="0" sz="1400" spc="13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reduce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pesticide</a:t>
            </a:r>
            <a:r>
              <a:rPr dirty="0" sz="1400" spc="6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overuse.</a:t>
            </a:r>
            <a:r>
              <a:rPr dirty="0" sz="1400" spc="6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This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system</a:t>
            </a:r>
            <a:r>
              <a:rPr dirty="0" sz="1400" spc="6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brings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that</a:t>
            </a:r>
            <a:r>
              <a:rPr dirty="0" sz="1400" spc="6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capability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to</a:t>
            </a:r>
            <a:r>
              <a:rPr dirty="0" sz="1400" spc="6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any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farmer</a:t>
            </a:r>
            <a:r>
              <a:rPr dirty="0" sz="1400" spc="6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with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0">
                <a:solidFill>
                  <a:srgbClr val="D9E1FF"/>
                </a:solidFill>
                <a:latin typeface="Microsoft Sans Serif"/>
                <a:cs typeface="Microsoft Sans Serif"/>
              </a:rPr>
              <a:t>a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smartphone</a:t>
            </a:r>
            <a:r>
              <a:rPr dirty="0" sz="1400" spc="13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camera.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7050" y="3274158"/>
            <a:ext cx="2211070" cy="9518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5">
                <a:solidFill>
                  <a:srgbClr val="D9E1FF"/>
                </a:solidFill>
                <a:latin typeface="Verdana"/>
                <a:cs typeface="Verdana"/>
              </a:rPr>
              <a:t>Early</a:t>
            </a:r>
            <a:r>
              <a:rPr dirty="0" sz="1650" spc="45">
                <a:solidFill>
                  <a:srgbClr val="D9E1FF"/>
                </a:solidFill>
                <a:latin typeface="Verdana"/>
                <a:cs typeface="Verdana"/>
              </a:rPr>
              <a:t> </a:t>
            </a:r>
            <a:r>
              <a:rPr dirty="0" sz="1650" spc="120">
                <a:solidFill>
                  <a:srgbClr val="D9E1FF"/>
                </a:solidFill>
                <a:latin typeface="Verdana"/>
                <a:cs typeface="Verdana"/>
              </a:rPr>
              <a:t>Detection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3900"/>
              </a:lnSpc>
              <a:spcBef>
                <a:spcPts val="770"/>
              </a:spcBef>
            </a:pP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Catch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disease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before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5">
                <a:solidFill>
                  <a:srgbClr val="D9E1FF"/>
                </a:solidFill>
                <a:latin typeface="Microsoft Sans Serif"/>
                <a:cs typeface="Microsoft Sans Serif"/>
              </a:rPr>
              <a:t>it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spreads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across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the</a:t>
            </a:r>
            <a:r>
              <a:rPr dirty="0" sz="1400" spc="8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harvest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7050" y="5798292"/>
            <a:ext cx="4669790" cy="6667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20">
                <a:solidFill>
                  <a:srgbClr val="D9E1FF"/>
                </a:solidFill>
                <a:latin typeface="Verdana"/>
                <a:cs typeface="Verdana"/>
              </a:rPr>
              <a:t>Accessible</a:t>
            </a:r>
            <a:r>
              <a:rPr dirty="0" sz="1650" spc="50">
                <a:solidFill>
                  <a:srgbClr val="D9E1FF"/>
                </a:solidFill>
                <a:latin typeface="Verdana"/>
                <a:cs typeface="Verdana"/>
              </a:rPr>
              <a:t> </a:t>
            </a:r>
            <a:r>
              <a:rPr dirty="0" sz="1650" spc="70">
                <a:solidFill>
                  <a:srgbClr val="D9E1FF"/>
                </a:solidFill>
                <a:latin typeface="Verdana"/>
                <a:cs typeface="Verdana"/>
              </a:rPr>
              <a:t>Tool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No</a:t>
            </a:r>
            <a:r>
              <a:rPr dirty="0" sz="1400" spc="6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agricultural</a:t>
            </a:r>
            <a:r>
              <a:rPr dirty="0" sz="1400" spc="6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expertise</a:t>
            </a:r>
            <a:r>
              <a:rPr dirty="0" sz="1400" spc="6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required</a:t>
            </a:r>
            <a:r>
              <a:rPr dirty="0" sz="1400" spc="6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600">
                <a:solidFill>
                  <a:srgbClr val="D9E1FF"/>
                </a:solidFill>
                <a:latin typeface="Microsoft Sans Serif"/>
                <a:cs typeface="Microsoft Sans Serif"/>
              </a:rPr>
              <a:t>—</a:t>
            </a:r>
            <a:r>
              <a:rPr dirty="0" sz="1400" spc="6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just</a:t>
            </a:r>
            <a:r>
              <a:rPr dirty="0" sz="1400" spc="6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point</a:t>
            </a:r>
            <a:r>
              <a:rPr dirty="0" sz="1400" spc="6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and</a:t>
            </a:r>
            <a:r>
              <a:rPr dirty="0" sz="1400" spc="6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predict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32427" y="3274158"/>
            <a:ext cx="2383155" cy="1240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50">
                <a:solidFill>
                  <a:srgbClr val="D9E1FF"/>
                </a:solidFill>
                <a:latin typeface="Verdana"/>
                <a:cs typeface="Verdana"/>
              </a:rPr>
              <a:t>Reduced</a:t>
            </a:r>
            <a:r>
              <a:rPr dirty="0" sz="1650" spc="35">
                <a:solidFill>
                  <a:srgbClr val="D9E1FF"/>
                </a:solidFill>
                <a:latin typeface="Verdana"/>
                <a:cs typeface="Verdana"/>
              </a:rPr>
              <a:t> </a:t>
            </a:r>
            <a:r>
              <a:rPr dirty="0" sz="1650" spc="80">
                <a:solidFill>
                  <a:srgbClr val="D9E1FF"/>
                </a:solidFill>
                <a:latin typeface="Verdana"/>
                <a:cs typeface="Verdana"/>
              </a:rPr>
              <a:t>Losses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3900"/>
              </a:lnSpc>
              <a:spcBef>
                <a:spcPts val="795"/>
              </a:spcBef>
            </a:pP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Targeted</a:t>
            </a:r>
            <a:r>
              <a:rPr dirty="0" sz="1400" spc="10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intervention</a:t>
            </a:r>
            <a:r>
              <a:rPr dirty="0" sz="1400" spc="10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instead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of</a:t>
            </a:r>
            <a:r>
              <a:rPr dirty="0" sz="1400" spc="5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blanket</a:t>
            </a:r>
            <a:r>
              <a:rPr dirty="0" sz="1400" spc="6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pesticide application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038205" y="5242291"/>
            <a:ext cx="120650" cy="257175"/>
            <a:chOff x="1038205" y="5242291"/>
            <a:chExt cx="120650" cy="257175"/>
          </a:xfrm>
        </p:grpSpPr>
        <p:sp>
          <p:nvSpPr>
            <p:cNvPr id="26" name="object 26"/>
            <p:cNvSpPr/>
            <p:nvPr/>
          </p:nvSpPr>
          <p:spPr>
            <a:xfrm>
              <a:off x="1043644" y="5247730"/>
              <a:ext cx="109855" cy="1905"/>
            </a:xfrm>
            <a:custGeom>
              <a:avLst/>
              <a:gdLst/>
              <a:ahLst/>
              <a:cxnLst/>
              <a:rect l="l" t="t" r="r" b="b"/>
              <a:pathLst>
                <a:path w="109855" h="1904">
                  <a:moveTo>
                    <a:pt x="109501" y="1648"/>
                  </a:moveTo>
                  <a:lnTo>
                    <a:pt x="0" y="0"/>
                  </a:lnTo>
                </a:path>
              </a:pathLst>
            </a:custGeom>
            <a:ln w="1087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078506" y="5466597"/>
              <a:ext cx="31750" cy="635"/>
            </a:xfrm>
            <a:custGeom>
              <a:avLst/>
              <a:gdLst/>
              <a:ahLst/>
              <a:cxnLst/>
              <a:rect l="l" t="t" r="r" b="b"/>
              <a:pathLst>
                <a:path w="31750" h="635">
                  <a:moveTo>
                    <a:pt x="0" y="87"/>
                  </a:moveTo>
                  <a:lnTo>
                    <a:pt x="31483" y="0"/>
                  </a:lnTo>
                </a:path>
              </a:pathLst>
            </a:custGeom>
            <a:ln w="1078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064800" y="5493809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59" h="0">
                  <a:moveTo>
                    <a:pt x="0" y="0"/>
                  </a:moveTo>
                  <a:lnTo>
                    <a:pt x="73090" y="0"/>
                  </a:lnTo>
                </a:path>
              </a:pathLst>
            </a:custGeom>
            <a:ln w="1078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8333" y="2418473"/>
            <a:ext cx="3288029" cy="2506980"/>
            <a:chOff x="618333" y="2418473"/>
            <a:chExt cx="3288029" cy="2506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7192" y="2418473"/>
              <a:ext cx="3268807" cy="250648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18333" y="2419578"/>
              <a:ext cx="74930" cy="2503805"/>
            </a:xfrm>
            <a:custGeom>
              <a:avLst/>
              <a:gdLst/>
              <a:ahLst/>
              <a:cxnLst/>
              <a:rect l="l" t="t" r="r" b="b"/>
              <a:pathLst>
                <a:path w="74929" h="2503804">
                  <a:moveTo>
                    <a:pt x="74702" y="0"/>
                  </a:moveTo>
                  <a:lnTo>
                    <a:pt x="19366" y="0"/>
                  </a:lnTo>
                  <a:lnTo>
                    <a:pt x="16518" y="580"/>
                  </a:lnTo>
                  <a:lnTo>
                    <a:pt x="0" y="19742"/>
                  </a:lnTo>
                  <a:lnTo>
                    <a:pt x="0" y="2480747"/>
                  </a:lnTo>
                  <a:lnTo>
                    <a:pt x="0" y="2483764"/>
                  </a:lnTo>
                  <a:lnTo>
                    <a:pt x="19366" y="2503507"/>
                  </a:lnTo>
                  <a:lnTo>
                    <a:pt x="74702" y="2503507"/>
                  </a:lnTo>
                  <a:lnTo>
                    <a:pt x="74702" y="0"/>
                  </a:lnTo>
                  <a:close/>
                </a:path>
              </a:pathLst>
            </a:custGeom>
            <a:solidFill>
              <a:srgbClr val="8061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4066219" y="2418473"/>
            <a:ext cx="3277870" cy="2506980"/>
            <a:chOff x="4066219" y="2418473"/>
            <a:chExt cx="3277870" cy="250698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85865" y="2418473"/>
              <a:ext cx="3257656" cy="25064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066219" y="2419578"/>
              <a:ext cx="74930" cy="2503805"/>
            </a:xfrm>
            <a:custGeom>
              <a:avLst/>
              <a:gdLst/>
              <a:ahLst/>
              <a:cxnLst/>
              <a:rect l="l" t="t" r="r" b="b"/>
              <a:pathLst>
                <a:path w="74929" h="2503804">
                  <a:moveTo>
                    <a:pt x="74702" y="0"/>
                  </a:moveTo>
                  <a:lnTo>
                    <a:pt x="19366" y="0"/>
                  </a:lnTo>
                  <a:lnTo>
                    <a:pt x="16518" y="580"/>
                  </a:lnTo>
                  <a:lnTo>
                    <a:pt x="0" y="19742"/>
                  </a:lnTo>
                  <a:lnTo>
                    <a:pt x="0" y="2480747"/>
                  </a:lnTo>
                  <a:lnTo>
                    <a:pt x="0" y="2483764"/>
                  </a:lnTo>
                  <a:lnTo>
                    <a:pt x="19366" y="2503507"/>
                  </a:lnTo>
                  <a:lnTo>
                    <a:pt x="74702" y="2503507"/>
                  </a:lnTo>
                  <a:lnTo>
                    <a:pt x="74702" y="0"/>
                  </a:lnTo>
                  <a:close/>
                </a:path>
              </a:pathLst>
            </a:custGeom>
            <a:solidFill>
              <a:srgbClr val="8061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7504581" y="2418473"/>
            <a:ext cx="3288029" cy="2506980"/>
            <a:chOff x="7504581" y="2418473"/>
            <a:chExt cx="3288029" cy="250698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23441" y="2418473"/>
              <a:ext cx="3268807" cy="250648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504581" y="2419578"/>
              <a:ext cx="74930" cy="2503805"/>
            </a:xfrm>
            <a:custGeom>
              <a:avLst/>
              <a:gdLst/>
              <a:ahLst/>
              <a:cxnLst/>
              <a:rect l="l" t="t" r="r" b="b"/>
              <a:pathLst>
                <a:path w="74929" h="2503804">
                  <a:moveTo>
                    <a:pt x="74702" y="0"/>
                  </a:moveTo>
                  <a:lnTo>
                    <a:pt x="19366" y="0"/>
                  </a:lnTo>
                  <a:lnTo>
                    <a:pt x="16518" y="580"/>
                  </a:lnTo>
                  <a:lnTo>
                    <a:pt x="0" y="19742"/>
                  </a:lnTo>
                  <a:lnTo>
                    <a:pt x="0" y="2480747"/>
                  </a:lnTo>
                  <a:lnTo>
                    <a:pt x="0" y="2483764"/>
                  </a:lnTo>
                  <a:lnTo>
                    <a:pt x="19366" y="2503507"/>
                  </a:lnTo>
                  <a:lnTo>
                    <a:pt x="74702" y="2503507"/>
                  </a:lnTo>
                  <a:lnTo>
                    <a:pt x="74702" y="0"/>
                  </a:lnTo>
                  <a:close/>
                </a:path>
              </a:pathLst>
            </a:custGeom>
            <a:solidFill>
              <a:srgbClr val="8061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624854" y="1474605"/>
            <a:ext cx="3589654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20"/>
              <a:t>Key</a:t>
            </a:r>
            <a:r>
              <a:rPr dirty="0" spc="60"/>
              <a:t> </a:t>
            </a:r>
            <a:r>
              <a:rPr dirty="0" spc="150"/>
              <a:t>Takeaways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83207" y="2585901"/>
            <a:ext cx="2595245" cy="1914525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71755">
              <a:lnSpc>
                <a:spcPct val="106700"/>
              </a:lnSpc>
              <a:spcBef>
                <a:spcPts val="5"/>
              </a:spcBef>
            </a:pPr>
            <a:r>
              <a:rPr dirty="0" sz="1650" spc="100">
                <a:solidFill>
                  <a:srgbClr val="D9E1FF"/>
                </a:solidFill>
                <a:latin typeface="Verdana"/>
                <a:cs typeface="Verdana"/>
              </a:rPr>
              <a:t>Software</a:t>
            </a:r>
            <a:r>
              <a:rPr dirty="0" sz="1650" spc="55">
                <a:solidFill>
                  <a:srgbClr val="D9E1FF"/>
                </a:solidFill>
                <a:latin typeface="Verdana"/>
                <a:cs typeface="Verdana"/>
              </a:rPr>
              <a:t> </a:t>
            </a:r>
            <a:r>
              <a:rPr dirty="0" sz="1650" spc="130">
                <a:solidFill>
                  <a:srgbClr val="D9E1FF"/>
                </a:solidFill>
                <a:latin typeface="Verdana"/>
                <a:cs typeface="Verdana"/>
              </a:rPr>
              <a:t>Prototype</a:t>
            </a:r>
            <a:r>
              <a:rPr dirty="0" sz="1650" spc="55">
                <a:solidFill>
                  <a:srgbClr val="D9E1FF"/>
                </a:solidFill>
                <a:latin typeface="Verdana"/>
                <a:cs typeface="Verdana"/>
              </a:rPr>
              <a:t> </a:t>
            </a:r>
            <a:r>
              <a:rPr dirty="0" sz="1650" spc="-430">
                <a:solidFill>
                  <a:srgbClr val="D9E1FF"/>
                </a:solidFill>
                <a:latin typeface="Verdana"/>
                <a:cs typeface="Verdana"/>
              </a:rPr>
              <a:t>=</a:t>
            </a:r>
            <a:r>
              <a:rPr dirty="0" sz="1650" spc="110">
                <a:solidFill>
                  <a:srgbClr val="D9E1FF"/>
                </a:solidFill>
                <a:latin typeface="Verdana"/>
                <a:cs typeface="Verdana"/>
              </a:rPr>
              <a:t> Valid</a:t>
            </a:r>
            <a:r>
              <a:rPr dirty="0" sz="1650" spc="50">
                <a:solidFill>
                  <a:srgbClr val="D9E1FF"/>
                </a:solidFill>
                <a:latin typeface="Verdana"/>
                <a:cs typeface="Verdana"/>
              </a:rPr>
              <a:t> </a:t>
            </a:r>
            <a:r>
              <a:rPr dirty="0" sz="1650" spc="135">
                <a:solidFill>
                  <a:srgbClr val="D9E1FF"/>
                </a:solidFill>
                <a:latin typeface="Verdana"/>
                <a:cs typeface="Verdana"/>
              </a:rPr>
              <a:t>Methodology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Dataset-driven</a:t>
            </a:r>
            <a:r>
              <a:rPr dirty="0" sz="1400" spc="9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training</a:t>
            </a:r>
            <a:r>
              <a:rPr dirty="0" sz="1400" spc="10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yields</a:t>
            </a:r>
            <a:endParaRPr sz="1400">
              <a:latin typeface="Microsoft Sans Serif"/>
              <a:cs typeface="Microsoft Sans Serif"/>
            </a:endParaRPr>
          </a:p>
          <a:p>
            <a:pPr marL="12700" marR="5080">
              <a:lnSpc>
                <a:spcPct val="132400"/>
              </a:lnSpc>
              <a:spcBef>
                <a:spcPts val="25"/>
              </a:spcBef>
            </a:pPr>
            <a:r>
              <a:rPr dirty="0" sz="1400" b="1">
                <a:solidFill>
                  <a:srgbClr val="D9E1FF"/>
                </a:solidFill>
                <a:latin typeface="Arial"/>
                <a:cs typeface="Arial"/>
              </a:rPr>
              <a:t>more</a:t>
            </a:r>
            <a:r>
              <a:rPr dirty="0" sz="1400" spc="75" b="1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D9E1FF"/>
                </a:solidFill>
                <a:latin typeface="Arial"/>
                <a:cs typeface="Arial"/>
              </a:rPr>
              <a:t>accurate,</a:t>
            </a:r>
            <a:r>
              <a:rPr dirty="0" sz="1400" spc="80" b="1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D9E1FF"/>
                </a:solidFill>
                <a:latin typeface="Arial"/>
                <a:cs typeface="Arial"/>
              </a:rPr>
              <a:t>reproducible </a:t>
            </a:r>
            <a:r>
              <a:rPr dirty="0" sz="1400" b="1">
                <a:solidFill>
                  <a:srgbClr val="D9E1FF"/>
                </a:solidFill>
                <a:latin typeface="Arial"/>
                <a:cs typeface="Arial"/>
              </a:rPr>
              <a:t>results</a:t>
            </a:r>
            <a:r>
              <a:rPr dirty="0" sz="1400" spc="45" b="1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than</a:t>
            </a:r>
            <a:r>
              <a:rPr dirty="0" sz="1400" spc="6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limited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live-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camera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data</a:t>
            </a:r>
            <a:r>
              <a:rPr dirty="0" sz="1400" spc="5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600">
                <a:solidFill>
                  <a:srgbClr val="D9E1FF"/>
                </a:solidFill>
                <a:latin typeface="Microsoft Sans Serif"/>
                <a:cs typeface="Microsoft Sans Serif"/>
              </a:rPr>
              <a:t>—</a:t>
            </a:r>
            <a:r>
              <a:rPr dirty="0" sz="1400" spc="5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</a:t>
            </a:r>
            <a:r>
              <a:rPr dirty="0" sz="1400" spc="5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deliberate</a:t>
            </a:r>
            <a:r>
              <a:rPr dirty="0" sz="1400" spc="5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5">
                <a:solidFill>
                  <a:srgbClr val="D9E1FF"/>
                </a:solidFill>
                <a:latin typeface="Microsoft Sans Serif"/>
                <a:cs typeface="Microsoft Sans Serif"/>
              </a:rPr>
              <a:t>and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defensible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design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choice.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28713" y="2514881"/>
            <a:ext cx="2822575" cy="148145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30900"/>
              </a:lnSpc>
              <a:spcBef>
                <a:spcPts val="85"/>
              </a:spcBef>
            </a:pPr>
            <a:r>
              <a:rPr dirty="0" sz="1650" spc="110">
                <a:solidFill>
                  <a:srgbClr val="D9E1FF"/>
                </a:solidFill>
                <a:latin typeface="Verdana"/>
                <a:cs typeface="Verdana"/>
              </a:rPr>
              <a:t>Intelligence</a:t>
            </a:r>
            <a:r>
              <a:rPr dirty="0" sz="1650" spc="80">
                <a:solidFill>
                  <a:srgbClr val="D9E1FF"/>
                </a:solidFill>
                <a:latin typeface="Verdana"/>
                <a:cs typeface="Verdana"/>
              </a:rPr>
              <a:t> </a:t>
            </a:r>
            <a:r>
              <a:rPr dirty="0" sz="1650">
                <a:solidFill>
                  <a:srgbClr val="D9E1FF"/>
                </a:solidFill>
                <a:latin typeface="Verdana"/>
                <a:cs typeface="Verdana"/>
              </a:rPr>
              <a:t>is</a:t>
            </a:r>
            <a:r>
              <a:rPr dirty="0" sz="1650" spc="80">
                <a:solidFill>
                  <a:srgbClr val="D9E1FF"/>
                </a:solidFill>
                <a:latin typeface="Verdana"/>
                <a:cs typeface="Verdana"/>
              </a:rPr>
              <a:t> </a:t>
            </a:r>
            <a:r>
              <a:rPr dirty="0" sz="1650" spc="130">
                <a:solidFill>
                  <a:srgbClr val="D9E1FF"/>
                </a:solidFill>
                <a:latin typeface="Verdana"/>
                <a:cs typeface="Verdana"/>
              </a:rPr>
              <a:t>Modular </a:t>
            </a:r>
            <a:r>
              <a:rPr dirty="0" sz="1400" b="1">
                <a:solidFill>
                  <a:srgbClr val="8061FF"/>
                </a:solidFill>
                <a:latin typeface="Arial"/>
                <a:cs typeface="Arial"/>
              </a:rPr>
              <a:t>"Our</a:t>
            </a:r>
            <a:r>
              <a:rPr dirty="0" sz="1400" spc="50" b="1">
                <a:solidFill>
                  <a:srgbClr val="8061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8061FF"/>
                </a:solidFill>
                <a:latin typeface="Arial"/>
                <a:cs typeface="Arial"/>
              </a:rPr>
              <a:t>focus</a:t>
            </a:r>
            <a:r>
              <a:rPr dirty="0" sz="1400" spc="50" b="1">
                <a:solidFill>
                  <a:srgbClr val="8061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8061FF"/>
                </a:solidFill>
                <a:latin typeface="Arial"/>
                <a:cs typeface="Arial"/>
              </a:rPr>
              <a:t>is</a:t>
            </a:r>
            <a:r>
              <a:rPr dirty="0" sz="1400" spc="55" b="1">
                <a:solidFill>
                  <a:srgbClr val="8061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8061FF"/>
                </a:solidFill>
                <a:latin typeface="Arial"/>
                <a:cs typeface="Arial"/>
              </a:rPr>
              <a:t>on</a:t>
            </a:r>
            <a:r>
              <a:rPr dirty="0" sz="1400" spc="50" b="1">
                <a:solidFill>
                  <a:srgbClr val="8061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8061FF"/>
                </a:solidFill>
                <a:latin typeface="Arial"/>
                <a:cs typeface="Arial"/>
              </a:rPr>
              <a:t>the</a:t>
            </a:r>
            <a:r>
              <a:rPr dirty="0" sz="1400" spc="55" b="1">
                <a:solidFill>
                  <a:srgbClr val="8061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8061FF"/>
                </a:solidFill>
                <a:latin typeface="Arial"/>
                <a:cs typeface="Arial"/>
              </a:rPr>
              <a:t>intelligence </a:t>
            </a:r>
            <a:r>
              <a:rPr dirty="0" sz="1400" b="1">
                <a:solidFill>
                  <a:srgbClr val="8061FF"/>
                </a:solidFill>
                <a:latin typeface="Arial"/>
                <a:cs typeface="Arial"/>
              </a:rPr>
              <a:t>of</a:t>
            </a:r>
            <a:r>
              <a:rPr dirty="0" sz="1400" spc="80" b="1">
                <a:solidFill>
                  <a:srgbClr val="8061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8061FF"/>
                </a:solidFill>
                <a:latin typeface="Arial"/>
                <a:cs typeface="Arial"/>
              </a:rPr>
              <a:t>detection</a:t>
            </a:r>
            <a:r>
              <a:rPr dirty="0" sz="1400" spc="85" b="1">
                <a:solidFill>
                  <a:srgbClr val="8061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8061FF"/>
                </a:solidFill>
                <a:latin typeface="Arial"/>
                <a:cs typeface="Arial"/>
              </a:rPr>
              <a:t>using</a:t>
            </a:r>
            <a:r>
              <a:rPr dirty="0" sz="1400" spc="80" b="1">
                <a:solidFill>
                  <a:srgbClr val="8061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8061FF"/>
                </a:solidFill>
                <a:latin typeface="Arial"/>
                <a:cs typeface="Arial"/>
              </a:rPr>
              <a:t>CNN. </a:t>
            </a:r>
            <a:r>
              <a:rPr dirty="0" sz="1400" b="1">
                <a:solidFill>
                  <a:srgbClr val="8061FF"/>
                </a:solidFill>
                <a:latin typeface="Arial"/>
                <a:cs typeface="Arial"/>
              </a:rPr>
              <a:t>Hardware</a:t>
            </a:r>
            <a:r>
              <a:rPr dirty="0" sz="1400" spc="85" b="1">
                <a:solidFill>
                  <a:srgbClr val="8061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8061FF"/>
                </a:solidFill>
                <a:latin typeface="Arial"/>
                <a:cs typeface="Arial"/>
              </a:rPr>
              <a:t>integration</a:t>
            </a:r>
            <a:r>
              <a:rPr dirty="0" sz="1400" spc="85" b="1">
                <a:solidFill>
                  <a:srgbClr val="8061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8061FF"/>
                </a:solidFill>
                <a:latin typeface="Arial"/>
                <a:cs typeface="Arial"/>
              </a:rPr>
              <a:t>is</a:t>
            </a:r>
            <a:r>
              <a:rPr dirty="0" sz="1400" spc="85" b="1">
                <a:solidFill>
                  <a:srgbClr val="8061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8061FF"/>
                </a:solidFill>
                <a:latin typeface="Arial"/>
                <a:cs typeface="Arial"/>
              </a:rPr>
              <a:t>modular </a:t>
            </a:r>
            <a:r>
              <a:rPr dirty="0" sz="1400" b="1">
                <a:solidFill>
                  <a:srgbClr val="8061FF"/>
                </a:solidFill>
                <a:latin typeface="Arial"/>
                <a:cs typeface="Arial"/>
              </a:rPr>
              <a:t>and</a:t>
            </a:r>
            <a:r>
              <a:rPr dirty="0" sz="1400" spc="50" b="1">
                <a:solidFill>
                  <a:srgbClr val="8061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8061FF"/>
                </a:solidFill>
                <a:latin typeface="Arial"/>
                <a:cs typeface="Arial"/>
              </a:rPr>
              <a:t>can</a:t>
            </a:r>
            <a:r>
              <a:rPr dirty="0" sz="1400" spc="55" b="1">
                <a:solidFill>
                  <a:srgbClr val="8061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8061FF"/>
                </a:solidFill>
                <a:latin typeface="Arial"/>
                <a:cs typeface="Arial"/>
              </a:rPr>
              <a:t>be</a:t>
            </a:r>
            <a:r>
              <a:rPr dirty="0" sz="1400" spc="55" b="1">
                <a:solidFill>
                  <a:srgbClr val="8061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8061FF"/>
                </a:solidFill>
                <a:latin typeface="Arial"/>
                <a:cs typeface="Arial"/>
              </a:rPr>
              <a:t>added</a:t>
            </a:r>
            <a:r>
              <a:rPr dirty="0" sz="1400" spc="55" b="1">
                <a:solidFill>
                  <a:srgbClr val="8061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8061FF"/>
                </a:solidFill>
                <a:latin typeface="Arial"/>
                <a:cs typeface="Arial"/>
              </a:rPr>
              <a:t>at</a:t>
            </a:r>
            <a:r>
              <a:rPr dirty="0" sz="1400" spc="55" b="1">
                <a:solidFill>
                  <a:srgbClr val="8061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8061FF"/>
                </a:solidFill>
                <a:latin typeface="Arial"/>
                <a:cs typeface="Arial"/>
              </a:rPr>
              <a:t>any</a:t>
            </a:r>
            <a:r>
              <a:rPr dirty="0" sz="1400" spc="55" b="1">
                <a:solidFill>
                  <a:srgbClr val="8061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8061FF"/>
                </a:solidFill>
                <a:latin typeface="Arial"/>
                <a:cs typeface="Arial"/>
              </a:rPr>
              <a:t>time."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74218" y="2585901"/>
            <a:ext cx="2615565" cy="19145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450850">
              <a:lnSpc>
                <a:spcPct val="102299"/>
              </a:lnSpc>
              <a:spcBef>
                <a:spcPts val="90"/>
              </a:spcBef>
            </a:pPr>
            <a:r>
              <a:rPr dirty="0" sz="1650" spc="140">
                <a:solidFill>
                  <a:srgbClr val="D9E1FF"/>
                </a:solidFill>
                <a:latin typeface="Verdana"/>
                <a:cs typeface="Verdana"/>
              </a:rPr>
              <a:t>Production-</a:t>
            </a:r>
            <a:r>
              <a:rPr dirty="0" sz="1650" spc="95">
                <a:solidFill>
                  <a:srgbClr val="D9E1FF"/>
                </a:solidFill>
                <a:latin typeface="Verdana"/>
                <a:cs typeface="Verdana"/>
              </a:rPr>
              <a:t>Ready </a:t>
            </a:r>
            <a:r>
              <a:rPr dirty="0" sz="1650" spc="114">
                <a:solidFill>
                  <a:srgbClr val="D9E1FF"/>
                </a:solidFill>
                <a:latin typeface="Verdana"/>
                <a:cs typeface="Verdana"/>
              </a:rPr>
              <a:t>Architecture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The</a:t>
            </a:r>
            <a:r>
              <a:rPr dirty="0" sz="1400" spc="5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pipeline</a:t>
            </a:r>
            <a:r>
              <a:rPr dirty="0" sz="1400" spc="5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600">
                <a:solidFill>
                  <a:srgbClr val="D9E1FF"/>
                </a:solidFill>
                <a:latin typeface="Microsoft Sans Serif"/>
                <a:cs typeface="Microsoft Sans Serif"/>
              </a:rPr>
              <a:t>—</a:t>
            </a:r>
            <a:r>
              <a:rPr dirty="0" sz="1400" spc="6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Input</a:t>
            </a:r>
            <a:r>
              <a:rPr dirty="0" sz="1400" spc="5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→</a:t>
            </a:r>
            <a:r>
              <a:rPr dirty="0" sz="1400" spc="6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CNN</a:t>
            </a:r>
            <a:r>
              <a:rPr dirty="0" sz="1400" spc="5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0">
                <a:solidFill>
                  <a:srgbClr val="D9E1FF"/>
                </a:solidFill>
                <a:latin typeface="Microsoft Sans Serif"/>
                <a:cs typeface="Microsoft Sans Serif"/>
              </a:rPr>
              <a:t>→</a:t>
            </a:r>
            <a:endParaRPr sz="1400">
              <a:latin typeface="Microsoft Sans Serif"/>
              <a:cs typeface="Microsoft Sans Serif"/>
            </a:endParaRPr>
          </a:p>
          <a:p>
            <a:pPr marL="12700" marR="95250">
              <a:lnSpc>
                <a:spcPct val="132400"/>
              </a:lnSpc>
              <a:spcBef>
                <a:spcPts val="25"/>
              </a:spcBef>
            </a:pP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Prediction</a:t>
            </a:r>
            <a:r>
              <a:rPr dirty="0" sz="1400" spc="6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→</a:t>
            </a:r>
            <a:r>
              <a:rPr dirty="0" sz="1400" spc="6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Output</a:t>
            </a:r>
            <a:r>
              <a:rPr dirty="0" sz="1400" spc="6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600">
                <a:solidFill>
                  <a:srgbClr val="D9E1FF"/>
                </a:solidFill>
                <a:latin typeface="Microsoft Sans Serif"/>
                <a:cs typeface="Microsoft Sans Serif"/>
              </a:rPr>
              <a:t>—</a:t>
            </a:r>
            <a:r>
              <a:rPr dirty="0" sz="1400" spc="6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0">
                <a:solidFill>
                  <a:srgbClr val="D9E1FF"/>
                </a:solidFill>
                <a:latin typeface="Microsoft Sans Serif"/>
                <a:cs typeface="Microsoft Sans Serif"/>
              </a:rPr>
              <a:t>maps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directly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onto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the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Raspberry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5">
                <a:solidFill>
                  <a:srgbClr val="D9E1FF"/>
                </a:solidFill>
                <a:latin typeface="Microsoft Sans Serif"/>
                <a:cs typeface="Microsoft Sans Serif"/>
              </a:rPr>
              <a:t>Pi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deployment</a:t>
            </a:r>
            <a:r>
              <a:rPr dirty="0" sz="1400" spc="7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path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with</a:t>
            </a:r>
            <a:r>
              <a:rPr dirty="0" sz="1400" spc="75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5">
                <a:solidFill>
                  <a:srgbClr val="D9E1FF"/>
                </a:solidFill>
                <a:latin typeface="Microsoft Sans Serif"/>
                <a:cs typeface="Microsoft Sans Serif"/>
              </a:rPr>
              <a:t>no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architectural</a:t>
            </a:r>
            <a:r>
              <a:rPr dirty="0" sz="1400" spc="10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D9E1FF"/>
                </a:solidFill>
                <a:latin typeface="Microsoft Sans Serif"/>
                <a:cs typeface="Microsoft Sans Serif"/>
              </a:rPr>
              <a:t>changes</a:t>
            </a:r>
            <a:r>
              <a:rPr dirty="0" sz="1400" spc="100">
                <a:solidFill>
                  <a:srgbClr val="D9E1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D9E1FF"/>
                </a:solidFill>
                <a:latin typeface="Microsoft Sans Serif"/>
                <a:cs typeface="Microsoft Sans Serif"/>
              </a:rPr>
              <a:t>required.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05198" y="2741176"/>
            <a:ext cx="4135120" cy="89598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700" spc="595">
                <a:solidFill>
                  <a:srgbClr val="D9E1FF"/>
                </a:solidFill>
                <a:latin typeface="Arial MT"/>
                <a:cs typeface="Arial MT"/>
              </a:rPr>
              <a:t>Thankyou!</a:t>
            </a:r>
            <a:endParaRPr sz="5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karan nevase</dc:creator>
  <cp:keywords>DAHH2rQywTI,BAHHvck4fJw,0</cp:keywords>
  <dc:title>CNN Model Workflow 01 Load Dataset Read pomegranate images from organized class folders (Healthy / Diseased)</dc:title>
  <dcterms:created xsi:type="dcterms:W3CDTF">2026-04-27T08:16:04Z</dcterms:created>
  <dcterms:modified xsi:type="dcterms:W3CDTF">2026-04-27T08:16:04Z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2026-04-25T00:00:00Z</vt:filetime>
  </property>
  <property fmtid="{D5CDD505-2E9C-101B-9397-08002B2CF9AE}" pid="4" name="Creator">
    <vt:lpwstr>Canva</vt:lpwstr>
  </property>
  <property fmtid="{D5CDD505-2E9C-101B-9397-08002B2CF9AE}" pid="5" name="LastSaved">
    <vt:filetime>2026-04-27T00:00:00Z</vt:filetime>
  </property>
  <property fmtid="{D5CDD505-2E9C-101B-9397-08002B2CF9AE}" pid="6" name="Producer">
    <vt:lpwstr>Canva</vt:lpwstr>
  </property>
</Properties>
</file>